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3C4043"/>
                </a:solidFill>
                <a:latin typeface="Google Sans"/>
                <a:ea typeface="Noto Sans TC"/>
              </a:rPr>
              <a:t>深度學習入門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F6368"/>
                </a:solidFill>
                <a:latin typeface="Google Sans"/>
                <a:ea typeface="Noto Sans TC"/>
              </a:rPr>
              <a:t>從寫程式到讓電腦自己學會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114800"/>
            <a:ext cx="274320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389120"/>
            <a:ext cx="9144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·AI </a:t>
            </a:r>
            <a:r>
              <a:rPr sz="1800" b="0" i="0" dirty="0" err="1">
                <a:solidFill>
                  <a:srgbClr val="3C4043"/>
                </a:solidFill>
                <a:latin typeface="Google Sans"/>
                <a:ea typeface="Noto Sans TC"/>
              </a:rPr>
              <a:t>應用開發班</a:t>
            </a:r>
            <a:endParaRPr sz="1800" b="0" i="0" dirty="0">
              <a:solidFill>
                <a:srgbClr val="3C4043"/>
              </a:solidFill>
              <a:latin typeface="Google Sans"/>
              <a:ea typeface="Noto Sans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3C4043"/>
                </a:solidFill>
                <a:latin typeface="Google Sans"/>
                <a:ea typeface="Noto Sans TC"/>
              </a:rPr>
              <a:t>Harry / </a:t>
            </a:r>
            <a:r>
              <a:rPr sz="1800" b="1" i="0" dirty="0" err="1">
                <a:solidFill>
                  <a:srgbClr val="3C4043"/>
                </a:solidFill>
                <a:latin typeface="Google Sans"/>
                <a:ea typeface="Noto Sans TC"/>
              </a:rPr>
              <a:t>蘇泓舉</a:t>
            </a:r>
            <a:endParaRPr sz="1800" b="1" i="0" dirty="0">
              <a:solidFill>
                <a:srgbClr val="3C4043"/>
              </a:solidFill>
              <a:latin typeface="Google Sans"/>
              <a:ea typeface="Noto Sans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F6368"/>
                </a:solidFill>
                <a:latin typeface="Google Sans"/>
                <a:ea typeface="Noto Sans TC"/>
              </a:rPr>
              <a:t>改編自 Harvard TinyMLx · Laurence Moroney (Google)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為什麼要上這堂課？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在動手寫 YOLO、把模型塞進 ESP32 之前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933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你已經會用 Python，但「模型怎麼學」還是黑盒子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8211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之後要在 Edge Impulse 上訓練、量化、部署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28016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280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會選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3708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要懂為什麼 256KB RAM 跑不動 16.9MB 的模型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M2 的任務：把「深度學習怎麼運作」一次講清楚。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學完這一章你會：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用一句話解釋什麼是「機器學習範式」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說出神經網路訓練的四個步驟：猜 → 量 → 修 → 再猜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54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看懂 6 行 Keras 程式碼在做什麼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知道 train / validation / test 為什麼一定要分三份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回答：為什麼 16.9MB 的 MobileNet 塞不進 256KB 的 MCU？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74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說出三種把模型壓小的方法：剪枝、量化、知識蒸餾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章節地圖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三段式：先講範式 → 再看程式碼 → 最後談硬體現實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657600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機器學習範式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657600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3337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神經網路長什麼樣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從 1 顆神經元到分類器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011680"/>
            <a:ext cx="3657600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oogle Sans"/>
                <a:ea typeface="Noto Sans TC"/>
              </a:rPr>
              <a:t>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108960"/>
            <a:ext cx="36576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337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TinyML 的挑戰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為什麼模型一定要壓小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機器學習範式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傳統程式：給規則 → 得答案；機器學習：給答案 → 學規則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傳統程式 vs 機器學習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輸入和輸出對調，就是兩種思維的差別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傳統程式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291840"/>
            <a:ext cx="0" cy="548640"/>
          </a:xfrm>
          <a:prstGeom prst="line">
            <a:avLst/>
          </a:prstGeom>
          <a:ln w="3175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20240" y="393192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答案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828800"/>
            <a:ext cx="0" cy="3840480"/>
          </a:xfrm>
          <a:prstGeom prst="line">
            <a:avLst/>
          </a:prstGeom>
          <a:ln w="1270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2240" y="18288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機器學習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4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答案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3291840"/>
            <a:ext cx="0" cy="548640"/>
          </a:xfrm>
          <a:prstGeom prst="line">
            <a:avLst/>
          </a:prstGeom>
          <a:ln w="3175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63840" y="3931920"/>
            <a:ext cx="246888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39319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規則（模型）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ML 不寫規則，而是讓電腦自己從資料和答案裡「歸納」出規則。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案例：用手機偵測你在做什麼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如果用傳統 if-else 寫，會變這樣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if 速度 &lt; 4 km/h: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走路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4A853"/>
                </a:solidFill>
                <a:latin typeface="Fira Code"/>
                <a:ea typeface="Fira Code"/>
              </a:rPr>
              <a:t>elif 速度 &lt; 12 km/h: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慢跑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BBC05"/>
                </a:solidFill>
                <a:latin typeface="Fira Code"/>
                <a:ea typeface="Fira Code"/>
              </a:rPr>
              <a:t>elif 速度 &lt; 60 km/h: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00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騎腳踏車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4335"/>
                </a:solidFill>
                <a:latin typeface="Fira Code"/>
                <a:ea typeface="Fira Code"/>
              </a:rPr>
              <a:t>else: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開車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Fira Code"/>
                <a:ea typeface="Fira Code"/>
              </a:rPr>
              <a:t># 然後... 高爾夫呢？打網球呢？跳舞呢？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97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→ 規則寫不完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傳統程式：每多一種行為就要寫一條規則。複雜度爆炸。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案例：同一個問題，用機器學習解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丟資料 + 標籤，模型自己學會規則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感測器資料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加速度 / 陀螺儀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10 秒一段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3840480"/>
            <a:ext cx="274320" cy="0"/>
          </a:xfrm>
          <a:prstGeom prst="line">
            <a:avLst/>
          </a:prstGeom>
          <a:ln w="254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人類標籤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走路 / 跑步 /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騎車 / 打網球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3840480"/>
            <a:ext cx="274320" cy="0"/>
          </a:xfrm>
          <a:prstGeom prst="line">
            <a:avLst/>
          </a:prstGeom>
          <a:ln w="254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80" y="2103120"/>
            <a:ext cx="3474720" cy="8229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0" y="21031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訓練好的模型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926080"/>
            <a:ext cx="347472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315468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輸入新片段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自動分類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重點：你不再寫「速度 &lt; 4 就是走路」這種 if-else。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你只需要準備夠多有標籤的資料，模型會自己歸納。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noFill/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3C4043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機器學習就是 4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猜 → 量 → 修 → 再猜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4285F4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Guess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猜一個答案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743200" cy="2560320"/>
          </a:xfrm>
          <a:prstGeom prst="rect">
            <a:avLst/>
          </a:prstGeom>
          <a:solidFill>
            <a:srgbClr val="FBBC05"/>
          </a:solidFill>
          <a:ln w="254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量它有多錯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743200" cy="25603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依錯誤修正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743200" cy="2560320"/>
          </a:xfrm>
          <a:prstGeom prst="rect">
            <a:avLst/>
          </a:prstGeom>
          <a:solidFill>
            <a:srgbClr val="EA4335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25146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84048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Google Sans"/>
                <a:ea typeface="Noto Sans TC"/>
              </a:rPr>
              <a:t>回到 01 再來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「再猜」之後 → 回到「猜」。整個訓練就是這個迴圈跑幾千上萬次。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一個簡單到不行的例子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為什麼用簡單例子？因為它能讓你親眼看到「學習」發生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問題：找出 X 和 Y 的關係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4285F4"/>
                </a:solidFill>
                <a:latin typeface="Fira Code"/>
                <a:ea typeface="Fira Code"/>
              </a:rPr>
              <a:t>X = { -1, 0, 1, 2, 3, 4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34A853"/>
                </a:solidFill>
                <a:latin typeface="Fira Code"/>
                <a:ea typeface="Fira Code"/>
              </a:rPr>
              <a:t>Y = { -3, -1, 1, 3, 5, 7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你大概兩秒就看出來：Y = 2X 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1">
                <a:solidFill>
                  <a:srgbClr val="EA4335"/>
                </a:solidFill>
                <a:latin typeface="Google Sans"/>
                <a:ea typeface="Noto Sans TC"/>
              </a:rPr>
              <a:t>但「電腦」要怎麼自己發現這件事？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第一步：猜！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假設電腦先隨便猜 Y = 3X − 1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正確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猜的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差距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146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26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2926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92608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926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337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3337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33756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3337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3749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0" y="3749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3749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74904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0" y="37490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41605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41605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0" y="41605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16052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49440" y="41605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4572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26080" y="4572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37760" y="4572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572000"/>
            <a:ext cx="18288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49440" y="45720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EA4335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猜得很爛 → 沒關係，下一步來「量」它有多爛。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怎麼量「差距」？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最直覺：把差距全部加起來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Fira Code"/>
                <a:ea typeface="Fira Code"/>
              </a:rPr>
              <a:t>差距 = { -1, 0, 1, 2, 3, 4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Fira Code"/>
                <a:ea typeface="Fira Code"/>
              </a:rPr>
              <a:t>總和 = -1 + 0 + 1 + 2 + 3 + 4 =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0332720" cy="18288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Houston, 我們有問題！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9784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</a:rPr>
              <a:t>「正 1」和「負 1」會抵消，看起來像「沒錯」。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</a:rPr>
              <a:t>但模型其實兩邊都猜歪了 → 加總會騙人。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解藥：把差距平方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負號消掉、放大誤差 → 大錯比小錯更要命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Fira Code"/>
                <a:ea typeface="Fira Code"/>
              </a:rPr>
              <a:t>差距     = { -1,  0,  1,  2,  3,  4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EA4335"/>
                </a:solidFill>
                <a:latin typeface="Fira Code"/>
                <a:ea typeface="Fira Code"/>
              </a:rPr>
              <a:t>差距²    = {  1,  0,  1,  4,  9, 16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Fira Code"/>
                <a:ea typeface="Fira Code"/>
              </a:rPr>
              <a:t>總和     = 1 + 0 + 1 + 4 + 9 + 16 = 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Fira Code"/>
                <a:ea typeface="Fira Code"/>
              </a:rPr>
              <a:t>開根號   = √31 ≈ 5.57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37760"/>
            <a:ext cx="10332720" cy="12801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這就是「均方根誤差」(RMSE)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Google Sans"/>
                <a:ea typeface="Noto Sans TC"/>
              </a:rPr>
              <a:t>也是大多數 ML 模型衡量「猜得多爛」的標準做法之一。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第二次猜：Y = 2X − 2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比上次好很多 → loss 從 5.57 降到 2.23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正確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猜的 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差距²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146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0" y="2880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2880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8803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0" y="3246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3246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32461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3776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0" y="3611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3977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3977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0" y="3977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397764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49440" y="3977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26080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37760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loss = √(1+1+1+1+1+1) = √6 ≈ 2.45  → 比第一次的 5.57 進步！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再猜一次：Y = 2X − 1 → loss = 0，搞定。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可是模型有幾百萬個參數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你不可能用手猜 → 需要「自動修正」的數學工具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我們剛剛只猜兩個參數：w 和 b（Y = wX + b）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ResNet-50 有 2,500 萬個參數，GPT-3 有 1,750 億個。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需要一個演算法，能自動回答：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97680"/>
            <a:ext cx="9418320" cy="16459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oogle Sans"/>
                <a:ea typeface="Noto Sans TC"/>
              </a:rPr>
              <a:t>「下一次該往哪個方向修？修多少？」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16636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  <a:latin typeface="Google Sans"/>
                <a:ea typeface="Noto Sans TC"/>
              </a:rPr>
              <a:t>答案：梯度下降（Gradient Descent）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Loss Function 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想像一個 U 形山谷，loss 越低代表猜越準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7772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86000" y="2103120"/>
            <a:ext cx="0" cy="2926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2286000"/>
            <a:ext cx="352044" cy="48646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03804" y="2772461"/>
            <a:ext cx="352044" cy="435255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55848" y="3207716"/>
            <a:ext cx="352044" cy="38404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707892" y="3591764"/>
            <a:ext cx="352044" cy="33284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59936" y="3924605"/>
            <a:ext cx="352044" cy="28163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11980" y="4206241"/>
            <a:ext cx="352044" cy="23042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64024" y="4436669"/>
            <a:ext cx="352044" cy="17922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16068" y="4615892"/>
            <a:ext cx="352044" cy="12801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68112" y="4743908"/>
            <a:ext cx="352044" cy="76809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20156" y="4820717"/>
            <a:ext cx="352044" cy="2560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72200" y="4820717"/>
            <a:ext cx="352044" cy="2560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524244" y="4743908"/>
            <a:ext cx="352044" cy="76809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876288" y="4615892"/>
            <a:ext cx="352044" cy="12801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28332" y="4436669"/>
            <a:ext cx="352044" cy="179223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80376" y="4206241"/>
            <a:ext cx="352044" cy="23042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32420" y="3924605"/>
            <a:ext cx="352044" cy="281636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84464" y="3591764"/>
            <a:ext cx="352044" cy="33284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636508" y="3207716"/>
            <a:ext cx="352044" cy="384048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988552" y="2772461"/>
            <a:ext cx="352044" cy="435255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340596" y="2286000"/>
            <a:ext cx="352044" cy="486461"/>
          </a:xfrm>
          <a:prstGeom prst="line">
            <a:avLst/>
          </a:prstGeom>
          <a:ln w="381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062472" y="4736592"/>
            <a:ext cx="219456" cy="21945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50749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loss 最低 → 模型最準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120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模型參數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loss（猜錯的程度）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梯度下降的直覺：下山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你蒙著眼站在山上，怎麼走到山谷？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用腳感受腳下的斜度（梯度）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889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往最陡的下坡方向跨一步（更新 w、b）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29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再感受一次斜度，再走一步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4285F4"/>
                </a:solidFill>
                <a:latin typeface="Google Sans"/>
                <a:ea typeface="Noto Sans TC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直到腳下變平 → 到山谷 → loss 最低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「跨多大一步」= learning rate（學習率）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太大會跨過頭，太小會走到天荒地老 → 後面實作會調這個值。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學習率（learning rate）三種命運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太小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291840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走一步只挪一公分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永遠到不了谷底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剛好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108960"/>
            <a:ext cx="3291840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穩穩往下走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順利收斂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57600" cy="82296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太大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36576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3108960"/>
            <a:ext cx="3291840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一步跨過整座山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loss 反而變大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常見預設值：0.001 ~ 0.01。實務上會用「自動調整」的優化器（Adam）。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從一顆神經元到神經網路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上面的猜→量→修，要怎麼變成「程式碼」？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先給程式碼，再講概念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完整訓練一個神經網路：只要 6 行（Keras 3 / TensorFlow 2.x）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numpy as np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 = tf.keras.Sequential([tf.keras.layers.Dense(units=1, input_shape=[1])])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model.compile(optimizer='sgd', loss='mean_squared_error')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xs = np.array([-1, 0, 1, 2, 3, 4], dtype=float)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ys = np.array([-3, -1, 1, 3, 5, 7], dtype=float)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model.fit(xs, ys, epochs=500)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print(model.predict(np.array([10.0])))   # 預測 X=10 應該是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1 行：建一個只有 1 顆神經元的模型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Fira Code"/>
                <a:ea typeface="Fira Code"/>
              </a:rPr>
              <a:t>model = tf.keras.Sequential([tf.keras.layers.Dense(units=1, input_shape=[1])])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一層一層往下堆 → 像積木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Dense(units=1)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657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這一層只有 1 顆神經元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Fira Code"/>
                <a:ea typeface="Fira Code"/>
              </a:rPr>
              <a:t>input_shape=[1]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每筆輸入只有 1 個數字（就是 X）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</a:rPr>
              <a:t>這顆神經元做的事：y = w·x + b （兩個參數要學）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2 行：告訴模型「怎麼修」、「怎麼量」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Fira Code"/>
                <a:ea typeface="Fira Code"/>
              </a:rPr>
              <a:t>model.compile(optimizer='sgd', loss='mean_squared_error')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Fira Code"/>
                <a:ea typeface="Fira Code"/>
              </a:rPr>
              <a:t>optimizer='sgd'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Stochastic Gradient Descent，剛剛講的「下山演算法」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A4335"/>
                </a:solidFill>
                <a:latin typeface="Fira Code"/>
                <a:ea typeface="Fira Code"/>
              </a:rPr>
              <a:t>loss='mean_squared_error'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→ 均方誤差 MSE，剛剛講的「差距平方再平均」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也就是說：第 1 行決定「結構」，第 2 行決定「學習規則」。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3-4 行：餵資料給它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xs = np.array([-1, 0, 1, 2, 3, 4], dtype=float)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ys = np.array([-3, -1, 1, 3, 5, 7], dtype=float)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X：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Y：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-3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29184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29184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4285F4"/>
                </a:solidFill>
                <a:latin typeface="Fira Code"/>
                <a:ea typeface="Fira Code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114800"/>
            <a:ext cx="12801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41148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34A853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這就是「給答案，讓電腦學規則」。dtype=float 是因為要算梯度。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5 行：開始訓練！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fit() 就是把「猜→量→修→再猜」跑 500 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Fira Code"/>
                <a:ea typeface="Fira Code"/>
              </a:rPr>
              <a:t>model.fit(xs, ys, epochs=500)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011680" cy="502920"/>
          </a:xfrm>
          <a:prstGeom prst="rect">
            <a:avLst/>
          </a:prstGeom>
          <a:solidFill>
            <a:srgbClr val="EA433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0175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w=10.0, b=10.0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4335"/>
                </a:solidFill>
                <a:latin typeface="Fira Code"/>
                <a:ea typeface="Fira Code"/>
              </a:rPr>
              <a:t>loss = 1352.4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011680" cy="50292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118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w=2.42, b=-0.40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6118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BBC05"/>
                </a:solidFill>
                <a:latin typeface="Fira Code"/>
                <a:ea typeface="Fira Code"/>
              </a:rPr>
              <a:t>loss = 0.18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011680" cy="50292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206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w=2.01, b=-0.95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06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4A853"/>
                </a:solidFill>
                <a:latin typeface="Fira Code"/>
                <a:ea typeface="Fira Code"/>
              </a:rPr>
              <a:t>loss = 0.003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2011680" cy="50292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Epoch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Fira Code"/>
                <a:ea typeface="Fira Code"/>
              </a:rPr>
              <a:t>w=2.00, b=-1.00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006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4285F4"/>
                </a:solidFill>
                <a:latin typeface="Fira Code"/>
                <a:ea typeface="Fira Code"/>
              </a:rPr>
              <a:t>loss ≈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你會看到 loss 越來越小，w 慢慢逼近 2，b 慢慢逼近 -1。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6 行：拿訓練好的模型來預測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Fira Code"/>
                <a:ea typeface="Fira Code"/>
              </a:rPr>
              <a:t>print(model.predict(np.array([10.0])))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我們從沒給它看過 X=10 → 它會回答多少？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4285F4"/>
                </a:solidFill>
                <a:latin typeface="Fira Code"/>
                <a:ea typeface="Fira Code"/>
              </a:rPr>
              <a:t>人類算：2 × 10 − 1 =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4A853"/>
                </a:solidFill>
                <a:latin typeface="Fira Code"/>
                <a:ea typeface="Fira Code"/>
              </a:rPr>
              <a:t>模型答：[[18.984377]]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12080"/>
            <a:ext cx="10332720" cy="109728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為什麼不是剛好 19？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Google Sans"/>
                <a:ea typeface="Noto Sans TC"/>
              </a:rPr>
              <a:t>因為 6 筆資料給模型的線索有限 → 它「逼近」但不會「完美命中」。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一顆「神經元」到底是什麼？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拆開來看：3 個輸入、3 個權重、1 個偏置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394960" y="2743200"/>
            <a:ext cx="1097280" cy="10972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94960" y="27432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</a:rPr>
              <a:t>Σ → f</a:t>
            </a:r>
          </a:p>
        </p:txBody>
      </p:sp>
      <p:sp>
        <p:nvSpPr>
          <p:cNvPr id="46" name="Oval 45"/>
          <p:cNvSpPr/>
          <p:nvPr/>
        </p:nvSpPr>
        <p:spPr>
          <a:xfrm>
            <a:off x="1508760" y="1783079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08760" y="178307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828800" y="2103120"/>
            <a:ext cx="4114800" cy="1188720"/>
          </a:xfrm>
          <a:prstGeom prst="line">
            <a:avLst/>
          </a:prstGeom>
          <a:ln w="1905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86200" y="2560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w1</a:t>
            </a:r>
          </a:p>
        </p:txBody>
      </p:sp>
      <p:sp>
        <p:nvSpPr>
          <p:cNvPr id="50" name="Oval 49"/>
          <p:cNvSpPr/>
          <p:nvPr/>
        </p:nvSpPr>
        <p:spPr>
          <a:xfrm>
            <a:off x="1508760" y="297180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08760" y="2971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x₂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828800" y="3291840"/>
            <a:ext cx="4114800" cy="0"/>
          </a:xfrm>
          <a:prstGeom prst="line">
            <a:avLst/>
          </a:prstGeom>
          <a:ln w="1905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886200" y="31546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w2</a:t>
            </a:r>
          </a:p>
        </p:txBody>
      </p:sp>
      <p:sp>
        <p:nvSpPr>
          <p:cNvPr id="54" name="Oval 53"/>
          <p:cNvSpPr/>
          <p:nvPr/>
        </p:nvSpPr>
        <p:spPr>
          <a:xfrm>
            <a:off x="1508760" y="416052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508760" y="4160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</a:rPr>
              <a:t>x₃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828800" y="3291840"/>
            <a:ext cx="4114800" cy="1188720"/>
          </a:xfrm>
          <a:prstGeom prst="line">
            <a:avLst/>
          </a:prstGeom>
          <a:ln w="1905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886200" y="3749039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EA4335"/>
                </a:solidFill>
                <a:latin typeface="Google Sans"/>
              </a:rPr>
              <a:t>w3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0" y="3291840"/>
            <a:ext cx="3383280" cy="0"/>
          </a:xfrm>
          <a:prstGeom prst="line">
            <a:avLst/>
          </a:prstGeom>
          <a:ln w="31750">
            <a:solidFill>
              <a:srgbClr val="34A85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418319" y="31089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i="0">
                <a:solidFill>
                  <a:srgbClr val="34A853"/>
                </a:solidFill>
                <a:latin typeface="Google Sans"/>
              </a:rPr>
              <a:t>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39319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EA4335"/>
                </a:solidFill>
                <a:latin typeface="Google Sans"/>
              </a:rPr>
              <a:t>+ b（偏置）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Fira Code"/>
              </a:rPr>
              <a:t>y = f( w₁·x₁ + w₂·x₂ + w₃·x₃ + b 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把神經元疊成「層」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輸入層 → 隱藏層 → 輸出層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331720" y="196596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331720" y="361188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331720" y="5257800"/>
            <a:ext cx="457200" cy="457200"/>
          </a:xfrm>
          <a:prstGeom prst="ellipse">
            <a:avLst/>
          </a:prstGeom>
          <a:solidFill>
            <a:srgbClr val="4285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737360" y="5897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4285F4"/>
                </a:solidFill>
                <a:latin typeface="Google Sans"/>
              </a:rPr>
              <a:t>輸入層</a:t>
            </a:r>
          </a:p>
        </p:txBody>
      </p:sp>
      <p:sp>
        <p:nvSpPr>
          <p:cNvPr id="90" name="Oval 89"/>
          <p:cNvSpPr/>
          <p:nvPr/>
        </p:nvSpPr>
        <p:spPr>
          <a:xfrm>
            <a:off x="5715000" y="196596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5715000" y="278892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715000" y="361188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5715000" y="443484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5715000" y="5257800"/>
            <a:ext cx="457200" cy="457200"/>
          </a:xfrm>
          <a:prstGeom prst="ellipse">
            <a:avLst/>
          </a:prstGeom>
          <a:solidFill>
            <a:srgbClr val="34A853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20640" y="5897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34A853"/>
                </a:solidFill>
                <a:latin typeface="Google Sans"/>
              </a:rPr>
              <a:t>隱藏層</a:t>
            </a:r>
          </a:p>
        </p:txBody>
      </p:sp>
      <p:sp>
        <p:nvSpPr>
          <p:cNvPr id="96" name="Oval 95"/>
          <p:cNvSpPr/>
          <p:nvPr/>
        </p:nvSpPr>
        <p:spPr>
          <a:xfrm>
            <a:off x="9098280" y="1965960"/>
            <a:ext cx="457200" cy="457200"/>
          </a:xfrm>
          <a:prstGeom prst="ellipse">
            <a:avLst/>
          </a:prstGeom>
          <a:solidFill>
            <a:srgbClr val="EA4335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9098280" y="5257800"/>
            <a:ext cx="457200" cy="457200"/>
          </a:xfrm>
          <a:prstGeom prst="ellipse">
            <a:avLst/>
          </a:prstGeom>
          <a:solidFill>
            <a:srgbClr val="EA4335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503919" y="58978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EA4335"/>
                </a:solidFill>
                <a:latin typeface="Google Sans"/>
              </a:rPr>
              <a:t>輸出層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560320" y="219456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560320" y="219456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56032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560320" y="219456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56032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56032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560320" y="301752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560320" y="384048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560320" y="384048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256032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56032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560320" y="301752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56032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560320" y="466344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560320" y="548640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943600" y="219456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94360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943600" y="219456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5943600" y="301752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943600" y="219456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943600" y="3840480"/>
            <a:ext cx="3383280" cy="164592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5943600" y="2194560"/>
            <a:ext cx="3383280" cy="246888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943600" y="4663440"/>
            <a:ext cx="3383280" cy="82296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943600" y="2194560"/>
            <a:ext cx="3383280" cy="329184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943600" y="5486400"/>
            <a:ext cx="338328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Fira Code"/>
              </a:rPr>
              <a:t>Keras 寫法：tf.keras.Sequential([Dense(5), Dense(2)])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為什麼叫「深度」學習？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層數越多 → 能學到的「規則」越複雜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 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402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只能學直線關係（線性回歸）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2-3 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1752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可以學簡單曲線、分簡單類別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10+ 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947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可以辨識手寫數字、語音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2926080" cy="64008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100+ 層 (ResNet)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5720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可以辨識 1000 種物體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「深」= 層數多。但層數不是越多越好 → 後面講的「TinyML 挑戰」就在這裡。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從「回歸」到「分類」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從預測一個數字，變成「這張圖是 0~9 哪一個？」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回歸 vs 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輸出一個數字 vs 輸出一個類別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532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回歸 Regression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5321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輸出：一個連續數字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範例：明天氣溫幾度？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範例：房價多少萬？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範例：剛剛的 Y = 2X − 1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53212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011680"/>
            <a:ext cx="55321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分類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743200"/>
            <a:ext cx="55321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輸出：哪一個類別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範例：這張圖是貓還是狗？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93192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範例：這封信是垃圾信嗎？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34840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</a:rPr>
              <a:t>• 範例：MNIST 手寫數字 0~9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分類的標籤怎麼表示？One-hot 編碼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10 個位置，正確答案那格是 1，其他是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如果答案是「7」：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743200"/>
            <a:ext cx="1005840" cy="731520"/>
          </a:xfrm>
          <a:prstGeom prst="rect">
            <a:avLst/>
          </a:prstGeom>
          <a:solidFill>
            <a:srgbClr val="34A853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2743200"/>
            <a:ext cx="100584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60" y="274320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Fira Code"/>
                <a:ea typeface="Fira Code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5661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</a:rPr>
              <a:t>位置 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Fira Code"/>
                <a:ea typeface="Fira Code"/>
              </a:rPr>
              <a:t>→ [0, 0, 0, 0, 0, 0, 0, 1, 0, 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模型最後也會輸出 10 個機率值，挑最高的那個當預測。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經典範例：MNIST 手寫數字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60,000 張訓練圖 + 10,000 張驗證圖，每張 28×28 像素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標籤：7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2011680"/>
            <a:ext cx="1188720" cy="1188720"/>
          </a:xfrm>
          <a:prstGeom prst="rect">
            <a:avLst/>
          </a:prstGeom>
          <a:solidFill>
            <a:srgbClr val="20212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201168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oogle Sans"/>
                <a:ea typeface="Noto Sans T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2918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</a:rPr>
              <a:t>標籤：6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每張圖 28×28 = 784 個像素值（0~255 灰階）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輸入：784 個數字（拉平的圖）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12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輸出：10 個機率（0~9 哪個）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這是「Hello World 等級」的圖像分類任務 → 後面 YOLO 也是同樣概念，只是規模放大。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MNIST 訓練：完整 12 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Keras 內建資料集，下載一行、訓練一行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1. 載入資料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(x_train, y_train), (x_val, y_val) = tf.keras.datasets.mnist.load_data()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x_train, x_val = x_train / 255.0, x_val / 255.0   # 正規化到 0~1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2. 建模型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 = tf.keras.Sequential([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tf.keras.layers.Flatten(input_shape=(28, 28)),  # 28x28 → 784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tf.keras.layers.Dense(128, activation='relu'),  # 隱藏層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tf.keras.layers.Dense(10,  activation='softmax')# 輸出 10 類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3. 編譯 + 訓練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model.compile(optimizer='adam',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    loss='sparse_categorical_crossentropy',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    metrics=['accuracy'])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model.fit(x_train, y_train, epochs=10)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兩個關鍵字一次講完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activation function（激活函數）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286000" cy="128016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402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小於 0 變 0，大於 0 不動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889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讓網路能學「非線性」關係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286000" cy="128016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Fira Code"/>
                <a:ea typeface="Fira Code"/>
              </a:rPr>
              <a:t>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94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把 10 個數字壓成「總和為 1 的機率」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3434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輸出層分類用，方便挑最高機率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3C4043"/>
                </a:solidFill>
                <a:latin typeface="Google Sans"/>
                <a:ea typeface="Noto Sans TC"/>
              </a:rPr>
              <a:t>現在 99% 的網路：隱藏層用 ReLU，分類輸出層用 Softmax。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成功！？真的成功嗎？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把鞋子分類器訓練到 96% 準確率 → 然後翻車了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計畫：訓練一個「鞋子辨識」模型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想像中很簡單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560320"/>
            <a:ext cx="914400" cy="9144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收集大量鞋子照片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2560320"/>
            <a:ext cx="914400" cy="91440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25603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384048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用這些照片訓練模型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0" y="2560320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657600"/>
            <a:ext cx="356616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賺翻了！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Fira Code"/>
                <a:ea typeface="Fira Code"/>
              </a:rPr>
              <a:t>訓練準確率：0.920 → 0.935 → 0.947 → 0.961  （越來越準！）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可是上線後...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使用者上傳「高跟鞋」，模型卻認不出來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7589520" cy="22860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46888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oogle Sans"/>
                <a:ea typeface="Noto Sans TC"/>
              </a:rPr>
              <a:t>成功？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29184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Google Sans"/>
                <a:ea typeface="Noto Sans TC"/>
              </a:rPr>
              <a:t>訓練資料只有「運動鞋」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Google Sans"/>
                <a:ea typeface="Noto Sans TC"/>
              </a:rPr>
              <a:t>模型沒看過高跟鞋 → 預測失準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問題出在哪？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我們只用「訓練資料」評估模型 → 它在沒看過的資料上表現很差。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解藥：把資料分成三份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讓模型「看過 / 邊學邊考 / 期末考」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Training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訓練集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60~80%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模型「看得到」的資料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用來學參數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Validation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驗證集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10~20%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模型「考小考」的資料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用來調超參數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11680"/>
            <a:ext cx="3657600" cy="100584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210312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Test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測試集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solidFill>
            <a:srgbClr val="F8F9FA"/>
          </a:solidFill>
          <a:ln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10~20%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47472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70332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模型「期末考」的資料</a:t>
            </a:r>
          </a:p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上線前最後驗收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黃金規則：test 集絕對不能拿來訓練、不能拿來調參數。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三組準確率告訴你什麼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看三個數字之間的關係，比看一個數字有意義 10 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過擬合 Overfit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57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99.9%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57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146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在訓練集背答案，新資料表現大幅退步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正常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46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46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46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92.5%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7033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三組差不多 → 模型有真的「學到」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89120"/>
            <a:ext cx="228600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欠擬合 Underfit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4348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Train 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348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Val 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Test 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92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三組都爛 → 模型太簡單、或資料太少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在 Keras 裡分割很簡單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fit() 時加一個 validation_data，最後用 evaluate() 跑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用 train_test_split 把 train 切一塊出來當 val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from sklearn.model_selection import train_test_split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x_tr, x_val, y_tr, y_val = train_test_split(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x_train, y_train, test_size=0.2, random_state=42)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訓練時同時報 val 表現（每個 epoch 都會印）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model.fit(x_tr, y_tr,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validation_data=(x_val, y_val),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  epochs=10)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最後再跑一次 test（這組從頭到尾沒用過）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model.evaluate(x_test, y_test)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TinyML 的挑戰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模型訓練好了，但你的 MCU 只有 256KB RAM...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TinyML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兩個世界的交集：嵌入式系統 + 機器學習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26079" y="2011680"/>
            <a:ext cx="3840480" cy="3840480"/>
          </a:xfrm>
          <a:prstGeom prst="ellipse">
            <a:avLst/>
          </a:prstGeom>
          <a:solidFill>
            <a:srgbClr val="4285F4">
              <a:alpha val="40000"/>
            </a:srgbClr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22392" y="2011680"/>
            <a:ext cx="3840480" cy="3840480"/>
          </a:xfrm>
          <a:prstGeom prst="ellipse">
            <a:avLst/>
          </a:prstGeom>
          <a:solidFill>
            <a:srgbClr val="34A853">
              <a:alpha val="40000"/>
            </a:srgbClr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79" y="2286000"/>
            <a:ext cx="21122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4285F4"/>
                </a:solidFill>
                <a:latin typeface="Google Sans"/>
              </a:rPr>
              <a:t>嵌入式系統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286000"/>
            <a:ext cx="21122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</a:rPr>
              <a:t>機器學習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2876" y="34747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C4043"/>
                </a:solidFill>
                <a:latin typeface="Google Sans"/>
              </a:rPr>
              <a:t>TinyML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876" y="41148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3C4043"/>
                </a:solidFill>
                <a:latin typeface="Google Sans"/>
              </a:rPr>
              <a:t>在 MCU 上跑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</a:rPr>
              <a:t>目標：讓 AI 跑在「鈕扣電池供電」的 MCU 上。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MPU vs MCU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一個是電腦的心臟，一個是嵌入式系統的全身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4114800" cy="548640"/>
          </a:xfrm>
          <a:prstGeom prst="rect">
            <a:avLst/>
          </a:prstGeom>
          <a:solidFill>
            <a:srgbClr val="EA4335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MCU (微控制器)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011680"/>
            <a:ext cx="4114800" cy="54864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20116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MPU (微處理器)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CPU 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5603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256032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1~400 MHz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5603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56032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1~4 GHz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1546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15468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2 KB ~ 512 KB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1546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315468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512 MB ~ 64 GB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4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74904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儲存空間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74904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08960" y="374904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32 KB ~ 2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4904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374904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64 GB ~ 4 TB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功耗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43434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0" y="434340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150 μW ~ 23 mW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3434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434340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30 W ~ 100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典型代表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493776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0" y="493776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ESP32 / STM32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93776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0" y="493776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Fira Code"/>
                <a:ea typeface="Fira Code"/>
              </a:rPr>
              <a:t>Raspberry Pi / 筆電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整整差了 ~10000 倍！MCU 用 mW 算，MPU 用 W 算。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最關鍵的數字震撼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如果直接把雲端模型搬過來...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347472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ESP32 的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Fira Code"/>
                <a:ea typeface="Fira Code"/>
              </a:rPr>
              <a:t>256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你能塞模型的全部空間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303520" cy="347472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MobileNetV1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0040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Fira Code"/>
                <a:ea typeface="Fira Code"/>
              </a:rPr>
              <a:t>16.9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比 RAM 大 ~67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</a:rPr>
              <a:t>直接塞進去 → 開不了機。這就是 TinyML 全部問題的起點。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但業界模型越做越大...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從 2012 到現在，訓練算力需求增加 300,000 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03120"/>
            <a:ext cx="22860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年份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大小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6576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ImageNet 準確率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AlexNet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6060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60604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61 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57.1%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546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154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VGG-16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15468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31546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15468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31546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528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15468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71.5%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0332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ResNet-50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0332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91840" y="37033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70332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3703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70332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37033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75.8%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MobileNet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251960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0" y="4251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2017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251960"/>
            <a:ext cx="2743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42519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16.9 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25196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42519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70.6%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MobileNet 已經是「為手機設計」的精簡版了，但對 MCU 還是太大。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把模型壓小的三招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TinyML 的核心工程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剪枝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Pruning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把沒用的連線砍掉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4285F4"/>
                </a:solidFill>
                <a:latin typeface="Google Sans"/>
                <a:ea typeface="Noto Sans TC"/>
              </a:rPr>
              <a:t>→ 模型變小、推論變快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205740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56032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Quantization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59" y="324612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float32 → int8（甚至更小）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29768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模型瘦 4 倍、運算快 2~4 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8" y="2011680"/>
            <a:ext cx="3749039" cy="100584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58" y="2057400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知識蒸餾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8" y="256032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Fira Code"/>
                <a:ea typeface="Fira Code"/>
              </a:rPr>
              <a:t>Distillation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8" y="3017520"/>
            <a:ext cx="3749039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38" y="324612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大模型當老師，教小模型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4297680"/>
            <a:ext cx="33832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FBBC05"/>
                </a:solidFill>
                <a:latin typeface="Google Sans"/>
                <a:ea typeface="Noto Sans TC"/>
              </a:rPr>
              <a:t>→ 小模型也能有不錯準確率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1 招：剪枝（Pruning）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把權重接近 0 的連線直接砍掉，反正它們也沒在出力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</a:rPr>
              <a:t>前：密集網路</a:t>
            </a:r>
          </a:p>
        </p:txBody>
      </p:sp>
      <p:sp>
        <p:nvSpPr>
          <p:cNvPr id="153" name="Oval 152"/>
          <p:cNvSpPr/>
          <p:nvPr/>
        </p:nvSpPr>
        <p:spPr>
          <a:xfrm>
            <a:off x="137769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377696" y="341619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377696" y="433791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37769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296265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2962656" y="3185769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96265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2962656" y="4568342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296265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4547615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4547615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4547615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5" name="Connector 164"/>
          <p:cNvCxnSpPr/>
          <p:nvPr/>
        </p:nvCxnSpPr>
        <p:spPr>
          <a:xfrm>
            <a:off x="1524000" y="2640787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524000" y="2640787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52400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524000" y="2640787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52400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524000" y="2640787"/>
            <a:ext cx="1584960" cy="921715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524000" y="3332074"/>
            <a:ext cx="1584960" cy="23042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524000" y="3562502"/>
            <a:ext cx="1584960" cy="46085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524000" y="3562502"/>
            <a:ext cx="1584960" cy="1152144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524000" y="3562502"/>
            <a:ext cx="1584960" cy="1843431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524000" y="2640787"/>
            <a:ext cx="1584960" cy="1843431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524000" y="3332074"/>
            <a:ext cx="1584960" cy="1152144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524000" y="4023360"/>
            <a:ext cx="1584960" cy="46085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524000" y="4484218"/>
            <a:ext cx="1584960" cy="230428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524000" y="4484218"/>
            <a:ext cx="1584960" cy="921715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52400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524000" y="3332074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52400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524000" y="4714646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524000" y="5405933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3108960" y="2640787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10896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10896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3108960" y="2640787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3108960" y="3332074"/>
            <a:ext cx="1584960" cy="69128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108960" y="3332074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3108960" y="2640787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3108960" y="4023360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310896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3108960" y="2640787"/>
            <a:ext cx="1584960" cy="2073859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3108960" y="4023360"/>
            <a:ext cx="1584960" cy="69128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3108960" y="4714646"/>
            <a:ext cx="1584960" cy="691287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3108960" y="2640787"/>
            <a:ext cx="1584960" cy="2765146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3108960" y="4023360"/>
            <a:ext cx="1584960" cy="1382573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108960" y="5405933"/>
            <a:ext cx="1584960" cy="0"/>
          </a:xfrm>
          <a:prstGeom prst="line">
            <a:avLst/>
          </a:prstGeom>
          <a:ln w="9525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7132320" y="1828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</a:rPr>
              <a:t>後：剪枝後</a:t>
            </a:r>
          </a:p>
        </p:txBody>
      </p:sp>
      <p:sp>
        <p:nvSpPr>
          <p:cNvPr id="201" name="Oval 200"/>
          <p:cNvSpPr/>
          <p:nvPr/>
        </p:nvSpPr>
        <p:spPr>
          <a:xfrm>
            <a:off x="759561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7595616" y="341619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7595616" y="433791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59561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918057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9180576" y="3185769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918057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9180576" y="4568342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918057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10765536" y="2494483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10765536" y="3877056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10765536" y="5259628"/>
            <a:ext cx="292608" cy="29260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3" name="Connector 212"/>
          <p:cNvCxnSpPr/>
          <p:nvPr/>
        </p:nvCxnSpPr>
        <p:spPr>
          <a:xfrm>
            <a:off x="7741920" y="2640787"/>
            <a:ext cx="1584960" cy="1382573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7741920" y="4484218"/>
            <a:ext cx="1584960" cy="230428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7741920" y="3332074"/>
            <a:ext cx="1584960" cy="2073859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7741920" y="4023360"/>
            <a:ext cx="1584960" cy="1382573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7741920" y="4714646"/>
            <a:ext cx="1584960" cy="691287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26880" y="2640787"/>
            <a:ext cx="1584960" cy="0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326880" y="2640787"/>
            <a:ext cx="1584960" cy="2765146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9326880" y="4023360"/>
            <a:ext cx="1584960" cy="0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326880" y="2640787"/>
            <a:ext cx="1584960" cy="2073859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326880" y="4023360"/>
            <a:ext cx="1584960" cy="691286"/>
          </a:xfrm>
          <a:prstGeom prst="line">
            <a:avLst/>
          </a:prstGeom>
          <a:ln w="127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</a:rPr>
              <a:t>效果：參數可以砍掉 90%，準確率只降 1~2%。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2 招：量化（Quantization）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用整數取代浮點數 → 同樣的權重，只佔 1/4 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原本：float32（4 個 byte）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0.247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-0.831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1.502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-0.094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0.673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-1.219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0.058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68880"/>
            <a:ext cx="128016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0" y="246888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Fira Code"/>
                <a:ea typeface="Fira Code"/>
              </a:rPr>
              <a:t>0.412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291840"/>
            <a:ext cx="0" cy="731520"/>
          </a:xfrm>
          <a:prstGeom prst="line">
            <a:avLst/>
          </a:prstGeom>
          <a:ln w="381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量化（quantize）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量化後：int8（1 個 byte，省 75%）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0896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127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-127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4846320"/>
            <a:ext cx="128016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09760" y="484632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模型 16.9 MB → 量化後 ~4.2 MB；準確率通常只掉 &lt; 1%。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第 3 招：知識蒸餾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讓「大模型」當老師，教「小模型」做同樣的判斷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114800" cy="201168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Fira Code"/>
                <a:ea typeface="Fira Code"/>
              </a:rPr>
              <a:t>ResNet-152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230 MB，准 76%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4114800" cy="146304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8803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Fira Code"/>
                <a:ea typeface="Fira Code"/>
              </a:rPr>
              <a:t>MobileNet-Tiny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703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oogle Sans"/>
                <a:ea typeface="Noto Sans TC"/>
              </a:rPr>
              <a:t>2 MB，准 73%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3383280"/>
            <a:ext cx="1645920" cy="0"/>
          </a:xfrm>
          <a:prstGeom prst="line">
            <a:avLst/>
          </a:prstGeom>
          <a:ln w="381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2064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教（蒸餾）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學生不只學「正確答案」，還學老師的「機率分布」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34A853"/>
                </a:solidFill>
                <a:latin typeface="Google Sans"/>
                <a:ea typeface="Noto Sans TC"/>
              </a:rPr>
              <a:t>→ 小模型用 1/100 的大小，達到 96% 老師的準確率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實務工具：TensorFlow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從訓練好的模型到 MCU 可執行檔，標準四步驟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正常用 TF/Keras 訓練模型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810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612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51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Convert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8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用 TFLite Converter 轉成 .tflite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846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8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23774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Optimize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套用量化（int8）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2743200"/>
            <a:ext cx="118872" cy="0"/>
          </a:xfrm>
          <a:prstGeom prst="line">
            <a:avLst/>
          </a:prstGeom>
          <a:ln w="25400">
            <a:solidFill>
              <a:srgbClr val="3C4043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06840" y="22860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3774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517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3200400"/>
            <a:ext cx="27432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20" y="3383280"/>
            <a:ext cx="237744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燒進 MCU（含 TFLite Micro runtime）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課程後段我們會用 Edge Impulse 自動跑完這個流程。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量化在程式碼裡長這樣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TensorFlow Lite Converter：3 行就能做 int8 量化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45775" cy="393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1. 載入訓練好的 Keras 模型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 = tf.lite.TFLiteConverter.from_keras_model(model)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2. 打開量化最佳化（int8 + float fallback）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8A8F98"/>
                </a:solidFill>
                <a:latin typeface="Fira Code"/>
                <a:ea typeface="Fira Code"/>
              </a:rPr>
              <a:t># 3. 提供「代表性資料集」幫 converter 抓量化範圍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def representative_data():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for x in x_train[:100]: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       yield [x.reshape(1, 28, 28).astype('float32')]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converter.representative_dataset = representative_data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  <a:p>
            <a:pPr algn="l"/>
            <a:r>
              <a:rPr sz="1800" b="0" i="0">
                <a:solidFill>
                  <a:srgbClr val="E8EAED"/>
                </a:solidFill>
                <a:latin typeface="Fira Code"/>
                <a:ea typeface="Fira Code"/>
              </a:rPr>
              <a:t>open('mnist_int8.tflite', 'wb').write(tflite_model)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量化前後對比（MNIST 範例）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用空間換時間，幾乎沒掉準確率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指標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原始 (float32)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103120"/>
            <a:ext cx="292608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21031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量化後 (int8)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變化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模型大小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6060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6060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1.2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060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26060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320 KB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6060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260604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73%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4612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RAM 使用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324612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~600 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324612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~180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70%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8620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88620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推論延遲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8862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0" y="38862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85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8862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38862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32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38862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388620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↓ 62%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26280"/>
            <a:ext cx="25603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5262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準確率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452628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108960" y="452628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52628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35040" y="452628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98.1%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52628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61120" y="45262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↓ 0.3%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</a:rPr>
              <a:t>準確率只掉 0.3% → 在 ESP32 上跑得動了！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量化不是免費午餐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代價在哪？什麼時候會失準？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精度損失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極端值會被裁切 → 罕見輸入可能誤判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某些層不友善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546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Softmax、LayerNorm 對量化敏感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除錯變難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0233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int8 的值不直觀，看數字看不出問題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解藥：QAT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92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Quantization-Aware Training：訓練時就模擬量化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M4 課程會深入講 QAT。現在你只要知道：「量化有代價，但通常划算」。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MCU 不能跑 Python，那怎麼跑模型？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答案：精簡版 runtime（TensorFlow Lite for Microcontrollers）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103120"/>
            <a:ext cx="27432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大小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3200400" cy="502920"/>
          </a:xfrm>
          <a:prstGeom prst="rect">
            <a:avLst/>
          </a:prstGeom>
          <a:solidFill>
            <a:srgbClr val="3C4043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用途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Fira Code"/>
                <a:ea typeface="Fira Code"/>
              </a:rPr>
              <a:t>普通 TF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6060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6060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~400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6060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電腦/伺服器用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Fira Code"/>
                <a:ea typeface="Fira Code"/>
              </a:rPr>
              <a:t>TF 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2918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32918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 MB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2918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2918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手機/RPi 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977640"/>
            <a:ext cx="32004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9776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Fira Code"/>
                <a:ea typeface="Fira Code"/>
              </a:rPr>
              <a:t>TFLM (Micro)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97764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3977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Fira Code"/>
                <a:ea typeface="Fira Code"/>
              </a:rPr>
              <a:t>~16 KB 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9776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9776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MCU 專用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TFLM 只做「推論」、不做「訓練」、不能動態載入網路結構。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從訓練到部署的全流程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五個階段，每個都會踩到不同的坑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訓練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031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在電腦 / GPU 上訓練模型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轉換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80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Keras → TFLite (.tflite 檔)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118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最佳化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剪枝 + 量化（int8）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891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A4335"/>
                </a:solidFill>
                <a:latin typeface="Google Sans"/>
                <a:ea typeface="Noto Sans TC"/>
              </a:rPr>
              <a:t>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348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C++ array 燒進 MCU flash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12064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推論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12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在裝置上即時跑（uW 級功耗）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Edge Impulse 把 1~4 步合在一個 Web 介面裡，所以你不用每步都自己寫程式。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oogle Sans"/>
                <a:ea typeface="Noto Sans TC"/>
              </a:rPr>
              <a:t>回到我們開頭的問題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</a:rPr>
              <a:t>你應該已經能用一句話回答 6 件事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學完 M2 你應該會回答：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什麼是機器學習範式？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給資料和答案，讓電腦自己學規則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訓練的 4 個步驟？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猜（Guess）→ 量（Measure）→ 修（Optimize）→ 再猜（Repeat）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loss function 在算什麼？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模型猜得有多爛（差距平方再平均）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為什麼要 train / val / test？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34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避免「在訓練集背答案，新資料就翻車」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256KB RAM 為什麼塞不下 MobileNet？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120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MobileNet 16.9 MB，差了 67 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Q6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怎麼把模型壓小？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989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34A853"/>
                </a:solidFill>
                <a:latin typeface="Google Sans"/>
                <a:ea typeface="Noto Sans TC"/>
              </a:rPr>
              <a:t>→ 剪枝 + 量化 + 知識蒸餾，再用 TFLite Micro 部署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接下來的課程：把 M2 學到的拿來用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317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ML 工作流程：怎麼收集資料、特徵工程、評估指標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5204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模型部署：量化細節、TFLite Micro、實際燒進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oogle Sans"/>
                <a:ea typeface="Noto Sans TC"/>
              </a:rPr>
              <a:t>專題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7091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YOLO 訓練 + Edge Impulse + ESP32 完整實戰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M2 是「為什麼」，M3、M4、專題是「怎麼做」。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C4043"/>
                </a:solidFill>
                <a:latin typeface="Google Sans"/>
                <a:ea typeface="Noto Sans TC"/>
              </a:rPr>
              <a:t>Your turn! 課後練習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三題：從程式到觀念到實作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1. 跑一遍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把投影片裡 6 行 Keras 程式碼貼到 Colab 跑，把 epochs 改成 5 看會發生什麼事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2. 想一想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如果你給的資料是 X={1,2,3,4}, Y={2,4,8,16}，模型能學會嗎？為什麼？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3. 動手算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用紙筆算一次：權重從 w=3 改成 w=2.5，loss 從 5.57 變多少？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下次上課前完成 → 我們從你算出來的數字開始講 M3。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09728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 w="952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</a:rPr>
              <a:t>Module 2 結束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下次見，我們開始把模型「燒進去」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206240"/>
            <a:ext cx="274320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產業新尖兵 · AI 應用開發班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F6368"/>
                </a:solidFill>
                <a:latin typeface="Google Sans"/>
                <a:ea typeface="Noto Sans TC"/>
              </a:rPr>
              <a:t>參考來源：Harvard TinyMLx, Laurence Moroney (Google)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3291</Words>
  <Application>Microsoft Office PowerPoint</Application>
  <PresentationFormat>寬螢幕</PresentationFormat>
  <Paragraphs>776</Paragraphs>
  <Slides>63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68" baseType="lpstr">
      <vt:lpstr>Fira Code</vt:lpstr>
      <vt:lpstr>Google Sans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泓舉</cp:lastModifiedBy>
  <cp:revision>2</cp:revision>
  <dcterms:created xsi:type="dcterms:W3CDTF">2013-01-27T09:14:16Z</dcterms:created>
  <dcterms:modified xsi:type="dcterms:W3CDTF">2026-06-26T13:36:54Z</dcterms:modified>
  <cp:category/>
</cp:coreProperties>
</file>