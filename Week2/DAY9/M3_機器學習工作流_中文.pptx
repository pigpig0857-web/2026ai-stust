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機器學習工作流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TinyML × AIoT — 資料是主角，模型是配角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產業新尖兵 / AI 應用開發班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講師：Harry / 蘇泓舉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這堂課在新尖兵的位置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第 9 主題 TinyML × AIoT — MPU6050 + Edge Impulse + MQTT 實作的理論基礎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M1</a:t>
            </a:r>
          </a:p>
          <a:p>
            <a:pPr algn="ctr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ML 是什麼</a:t>
            </a:r>
          </a:p>
          <a:p>
            <a:pPr algn="ctr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概念與生態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28600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M2</a:t>
            </a:r>
          </a:p>
          <a:p>
            <a:pPr algn="ctr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深度學習</a:t>
            </a:r>
          </a:p>
          <a:p>
            <a:pPr algn="ctr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Keras / TF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8600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M3</a:t>
            </a:r>
          </a:p>
          <a:p>
            <a:pPr algn="ctr"/>
            <a:r>
              <a:rPr sz="18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工作流 ← 本次</a:t>
            </a:r>
          </a:p>
          <a:p>
            <a:pPr algn="ctr"/>
            <a:r>
              <a:rPr sz="18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資料・特徵・評估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228600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M4</a:t>
            </a:r>
          </a:p>
          <a:p>
            <a:pPr algn="ctr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部署</a:t>
            </a:r>
          </a:p>
          <a:p>
            <a:pPr algn="ctr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TFLite Micro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M3 教你「在動手做 MPU6050 專案之前，你要先想清楚什麼」。</a:t>
            </a:r>
          </a:p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之後 M4 才談「怎麼把它塞進 MCU」。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TinyML 的三大感測支柱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聲音、影像、動作 — 我們這堂課把重點放在動作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聲音 Acoustic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麥克風 / 超音波 / 振動計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Keyword spotting、機台聲紋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9456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4688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影像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474720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CMOS 影像 / 熱影像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人物偵測、PPE 配戴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9456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動作 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474720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加速度計 / 陀螺儀 / 雷達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MPU6050 手勢、跌倒、設備震動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★ 新尖兵班的實作主軸 = MPU6050（6 軸 IMU）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為什麼 MPU6050 是入門最佳選擇？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便宜、容易接、資料量小、剛好夠複雜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532120" cy="7772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6771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267712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30 元 / 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03120"/>
            <a:ext cx="5532120" cy="7772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6771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介面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267712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I²C，3 條線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44952"/>
            <a:ext cx="5532120" cy="7772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0954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資料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209544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6 軸 (acc xyz + gyro xyz)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044952"/>
            <a:ext cx="5532120" cy="7772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20954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頻寬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209544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100-1000 Hz 就夠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86784"/>
            <a:ext cx="5532120" cy="7772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51376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應用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151376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手勢、姿態、震動、跌倒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986784"/>
            <a:ext cx="5532120" cy="7772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151376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MCU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151376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ESP32 / Arduino Nano 33 BLE Sense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這堂課所有「資料工程」概念，都可以直接套用到你的 MPU6050 專題。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在開始之前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「再多資料也不能訓練模型中樂透。」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— Pete Warden（TinyML 之父）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意思是：問題本身不可預測時，你給多少資料都沒用。</a:t>
            </a:r>
          </a:p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資料工程第一步永遠是 — 把問題定義清楚。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Part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從應用反推工作流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Application → Problem →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一個 TinyML 應用做什麼？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以「語音喚醒」為例 — 它其實也是 MPU6050 後面要做的事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Step 1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資料輸入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麥克風讀取音訊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（感測器 → MCU）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8" y="3337560.0"/>
            <a:ext cx="237744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89120" y="219456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Step 2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處理 + 推論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前處理 + 神經網路推論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判斷指令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73568" y="3337560.0"/>
            <a:ext cx="237744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0" y="219456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Step 3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輸出動作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驅動喇叭 / LED / Relay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回應使用者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把「麥克風」換成「MPU6050」，你就得到一個動作辨識應用。</a:t>
            </a:r>
          </a:p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三步看起來簡單 — 但每一步都會炸出 7 個問題。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看起來簡單，問題其實一大堆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逐步累加 — 第 1 個問題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怎麼把感測資料抓進神經網路？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看起來簡單，問題其實一大堆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逐步累加 — 第 2 個問題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怎麼把感測資料抓進神經網路？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9572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414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神經網路該怎麼設計才能吃這種訊號？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看起來簡單，問題其實一大堆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逐步累加 — 第 3 個問題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怎麼把感測資料抓進神經網路？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9572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414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神經網路該怎麼設計才能吃這種訊號？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265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BBC05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0837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要用什麼資料集來訓練？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看起來簡單，問題其實一大堆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逐步累加 — 第 4 個問題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怎麼把感測資料抓進神經網路？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9572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414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神經網路該怎麼設計才能吃這種訊號？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265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BBC05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0837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要用什麼資料集來訓練？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9584"/>
            <a:ext cx="411480" cy="41148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7530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推論前的資料前處理怎麼做？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看起來簡單，問題其實一大堆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逐步累加 — 第 5 個問題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怎麼把感測資料抓進神經網路？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9572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414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神經網路該怎麼設計才能吃這種訊號？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265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BBC05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0837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要用什麼資料集來訓練？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9584"/>
            <a:ext cx="411480" cy="41148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7530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推論前的資料前處理怎麼做？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96512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422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推論後的輸出要怎麼後處理？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看起來簡單，問題其實一大堆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逐步累加 — 第 6 個問題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怎麼把感測資料抓進神經網路？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9572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414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神經網路該怎麼設計才能吃這種訊號？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265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BBC05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0837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要用什麼資料集來訓練？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9584"/>
            <a:ext cx="411480" cy="41148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7530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推論前的資料前處理怎麼做？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96512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422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推論後的輸出要怎麼後處理？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09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資料集會不會有偏誤？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看起來簡單，問題其實一大堆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逐步累加 — 第 7 個問題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怎麼把感測資料抓進神經網路？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9572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414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神經網路該怎麼設計才能吃這種訊號？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265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BBC05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0837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要用什麼資料集來訓練？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9584"/>
            <a:ext cx="411480" cy="41148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7530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推論前的資料前處理怎麼做？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96512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422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推論後的輸出要怎麼後處理？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09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資料集會不會有偏誤？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3036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BBC05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7608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怎麼把它部署到 MCU？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★ 這 7 題的答案 = M3 + M4 整套課要教的內容。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換個感測器，問題還是同一套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Acoustic → Image → Motion，只是輸入不同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聲音感測器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影像感測器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0116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動作感測器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3108960"/>
            <a:ext cx="0" cy="54864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09360" y="3108960"/>
            <a:ext cx="0" cy="54864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241280" y="3108960"/>
            <a:ext cx="0" cy="54864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" y="3749039"/>
            <a:ext cx="110642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C4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相同的 7 個問題：</a:t>
            </a:r>
          </a:p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1) 怎麼抓資料  2) 模型怎麼設計  3) 訓練集從哪來</a:t>
            </a:r>
          </a:p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4) 前處理  5) 後處理  6) 避免偏誤  7) 部署到 MCU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為什麼不能把雲端模型直接搬上 MCU？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你板子上的 RAM 只夠塞 1.5% 的 MobileNet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03520" cy="3291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MobileNet v1 (2017)</a:t>
            </a:r>
          </a:p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70.6% 準確度</a:t>
            </a:r>
          </a:p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大小：16.9 MB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03120"/>
            <a:ext cx="5303520" cy="3291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你的開發板</a:t>
            </a:r>
          </a:p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（ESP32 / Nano 33 BLE）</a:t>
            </a:r>
          </a:p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RAM：256 KB</a:t>
            </a:r>
          </a:p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比例：1 : 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→ 所以 TinyML 不是「拿大模型來壓縮」，而是「從一開始就為 MCU 設計流程」。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MPU6050 情境 ①：手勢辨識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上下、左右、畫圈、靜止 — 四種動作 → 控制裝置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輸入：3 軸加速度 × 2 秒視窗 × 取樣率 62.5Hz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輸出：[左右, 上下, 圓圈, 靜止] 機率分佈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用途：智慧家居遙控、無接觸操作、AR/VR 介面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011680"/>
            <a:ext cx="384048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左右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788920"/>
            <a:ext cx="384048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上下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566160"/>
            <a:ext cx="384048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圓圈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343400"/>
            <a:ext cx="384048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靜止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這就是 Edge Impulse 官方 magic-wand 範例的中文版本。</a:t>
            </a:r>
          </a:p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新尖兵班會用相同流程做 MQTT 上傳。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MPU6050 情境 ②：跌倒偵測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高齡照護常見題目 — 也是異常偵測 (Anomaly Detection) 入門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正常：走路、站立、坐下、躺下</a:t>
            </a:r>
          </a:p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異常：跌倒（自由落體 + 撞擊 + 靜止 三段式特徵）</a:t>
            </a:r>
          </a:p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→ 用 Autoencoder 或 K-Means 做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★ 重點：你不需要「跌倒」的大量資料，</a:t>
            </a:r>
          </a:p>
          <a:p>
            <a:pPr algn="l"/>
            <a:r>
              <a:rPr sz="16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    只要用「正常活動」訓練，模型自己會把跌倒判成異常。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MPU6050 情境 ③：設備震動監測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工業 PHM 入門 — 馬達 / 風扇 / 泵浦 健康狀態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關機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幾乎無震動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103120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2860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正常運轉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31089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穩定週期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2103120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2860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負載過重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31089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振幅變大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34856" y="2103120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7736" y="22860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異常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7736" y="31089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頻譜出現新峰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課程實作：把開發板貼在風扇 / 馬達 / 電腦上，收 2 分鐘資料，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用 Edge Impulse 做 Spectral Analysis + 神經網路分類，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再透過 MQTT 把狀態上傳到 Node-RED 儀表板。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ML 生命週期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ML Lifecycle — 一張圖記住整堂課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ML 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第 1 個階段 — 一次加一塊，最後拼成完整流程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1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AI 基礎建設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0">
                <a:solidFill>
                  <a:srgbClr val="BDC1C6"/>
                </a:solidFill>
                <a:latin typeface="Google Sans"/>
                <a:ea typeface="Noto Sans TC"/>
                <a:cs typeface="Google Sans"/>
              </a:rPr>
              <a:t>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70632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57216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0">
                <a:solidFill>
                  <a:srgbClr val="BDC1C6"/>
                </a:solidFill>
                <a:latin typeface="Google Sans"/>
                <a:ea typeface="Noto Sans TC"/>
                <a:cs typeface="Google Sans"/>
              </a:rPr>
              <a:t>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74920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61504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0">
                <a:solidFill>
                  <a:srgbClr val="BDC1C6"/>
                </a:solidFill>
                <a:latin typeface="Google Sans"/>
                <a:ea typeface="Noto Sans TC"/>
                <a:cs typeface="Google Sans"/>
              </a:rPr>
              <a:t>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79208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65792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0">
                <a:solidFill>
                  <a:srgbClr val="BDC1C6"/>
                </a:solidFill>
                <a:latin typeface="Google Sans"/>
                <a:ea typeface="Noto Sans TC"/>
                <a:cs typeface="Google Sans"/>
              </a:rPr>
              <a:t>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83496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AI 基礎建設：算力、儲存、實驗管理。對 TinyML 來說也包括 MCU、感測器。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ML 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第 2 個階段 — 一次加一塊，最後拼成完整流程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1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AI 基礎建設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2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資料工程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70632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57216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0">
                <a:solidFill>
                  <a:srgbClr val="BDC1C6"/>
                </a:solidFill>
                <a:latin typeface="Google Sans"/>
                <a:ea typeface="Noto Sans TC"/>
                <a:cs typeface="Google Sans"/>
              </a:rPr>
              <a:t>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74920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61504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0">
                <a:solidFill>
                  <a:srgbClr val="BDC1C6"/>
                </a:solidFill>
                <a:latin typeface="Google Sans"/>
                <a:ea typeface="Noto Sans TC"/>
                <a:cs typeface="Google Sans"/>
              </a:rPr>
              <a:t>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79208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65792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0">
                <a:solidFill>
                  <a:srgbClr val="BDC1C6"/>
                </a:solidFill>
                <a:latin typeface="Google Sans"/>
                <a:ea typeface="Noto Sans TC"/>
                <a:cs typeface="Google Sans"/>
              </a:rPr>
              <a:t>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83496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資料工程：定義需求、收集、標註、清洗、增強。這裡就花掉 90% 的時間。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ML 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第 3 個階段 — 一次加一塊，最後拼成完整流程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1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AI 基礎建設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2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資料工程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70632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57216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3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模型工程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74920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61504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0">
                <a:solidFill>
                  <a:srgbClr val="BDC1C6"/>
                </a:solidFill>
                <a:latin typeface="Google Sans"/>
                <a:ea typeface="Noto Sans TC"/>
                <a:cs typeface="Google Sans"/>
              </a:rPr>
              <a:t>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79208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65792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0">
                <a:solidFill>
                  <a:srgbClr val="BDC1C6"/>
                </a:solidFill>
                <a:latin typeface="Google Sans"/>
                <a:ea typeface="Noto Sans TC"/>
                <a:cs typeface="Google Sans"/>
              </a:rPr>
              <a:t>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83496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模型工程：選架構、訓練、超參數、SOTA 追蹤。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ML 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第 4 個階段 — 一次加一塊，最後拼成完整流程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1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AI 基礎建設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2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資料工程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70632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57216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3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模型工程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74920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61504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4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模型部署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79208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65792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0">
                <a:solidFill>
                  <a:srgbClr val="BDC1C6"/>
                </a:solidFill>
                <a:latin typeface="Google Sans"/>
                <a:ea typeface="Noto Sans TC"/>
                <a:cs typeface="Google Sans"/>
              </a:rPr>
              <a:t>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83496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模型部署：轉換、最佳化、量化、API、OTA 更新。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ML 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第 5 個階段 — 一次加一塊，最後拼成完整流程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1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AI 基礎建設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2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資料工程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70632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57216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3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模型工程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74920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61504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4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模型部署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79208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65792" y="237744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5</a:t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產品分析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83496" y="3291840.0"/>
            <a:ext cx="73152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產品分析：上線後的監控、回饋、再訓練 — 整個循環就完成了。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ML 生命週期 — TinyML 的關注重點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資料工程 + 模型工程 + 模型部署，是這堂課的主場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AI 基礎建設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219456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81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411480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★ TinyML 重點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57216" y="219456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81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模型工程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6" y="411480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★ TinyML 重點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1504" y="219456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81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模型部署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1504" y="4114800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★ TinyML 重點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65792" y="2194560"/>
            <a:ext cx="221284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產品分析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AI 基礎建設由廠商（雲端、晶片）解決，產品分析屬於業務面。</a:t>
            </a:r>
          </a:p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對工程師來說 — 中間三塊就是你會親手摸到的部分。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資料工程 = 4 個階段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需求 → 收集 → 處理 → 維運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需求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問題定義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機器與人可讀格式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授權與使用權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0312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2860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收集 Gathering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10896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資料來源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收集方式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標註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0312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處理 Refinement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前處理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驗證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資料增強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210312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2860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維運 Sustainment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108960"/>
            <a:ext cx="2377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版本控制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持續擴充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偏誤修正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★ 90% 的 ML 工作其實是「資料工程」— 不是寫模型程式。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Part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好資料的標準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Good Data is Necessary for Accuracy.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好資料是準確的必要條件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What makes good data？逐項堆疊 — 第 1 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你到底想解決什麼問題？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好資料是準確的必要條件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What makes good data？逐項堆疊 — 第 2 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你到底想解決什麼問題？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0428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資料裡要含有「有用的特徵」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好資料是準確的必要條件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What makes good data？逐項堆疊 — 第 3 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你到底想解決什麼問題？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0428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資料裡要含有「有用的特徵」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7121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BBC05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1693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人類專家能不能分辨這幾類？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好資料是準確的必要條件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What makes good data？逐項堆疊 — 第 4 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你到底想解決什麼問題？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0428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資料裡要含有「有用的特徵」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7121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BBC05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1693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人類專家能不能分辨這幾類？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38144"/>
            <a:ext cx="411480" cy="41148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8386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用什麼指標來衡量表現？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好資料是準確的必要條件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What makes good data？逐項堆疊 — 第 5 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你到底想解決什麼問題？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0428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資料裡要含有「有用的特徵」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7121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BBC05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1693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人類專家能不能分辨這幾類？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38144"/>
            <a:ext cx="411480" cy="41148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8386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用什麼指標來衡量表現？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05072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507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「量」與「質」都會影響模型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好資料是準確的必要條件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What makes good data？逐項堆疊 — 第 6 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你到底想解決什麼問題？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0428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資料裡要含有「有用的特徵」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7121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BBC05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1693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人類專家能不能分辨這幾類？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38144"/>
            <a:ext cx="411480" cy="41148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8386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用什麼指標來衡量表現？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05072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507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「量」與「質」都會影響模型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訓練樣本的分佈要夠廣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好資料是準確的必要條件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What makes good data？逐項堆疊 — 第 7 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你到底想解決什麼問題？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0428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資料裡要含有「有用的特徵」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7121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BBC05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1693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人類專家能不能分辨這幾類？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38144"/>
            <a:ext cx="411480" cy="41148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8386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用什麼指標來衡量表現？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05072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507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「量」與「質」都會影響模型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訓練樣本的分佈要夠廣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3892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BBC05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846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標籤要正確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好資料是準確的必要條件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What makes good data？逐項堆疊 — 第 8 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你到底想解決什麼問題？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0428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50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資料裡要含有「有用的特徵」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7121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BBC05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1693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人類專家能不能分辨這幾類？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38144"/>
            <a:ext cx="411480" cy="41148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8386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用什麼指標來衡量表現？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05072"/>
            <a:ext cx="411480" cy="41148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507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「量」與「質」都會影響模型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訓練樣本的分佈要夠廣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3892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FBBC05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846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標籤要正確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0585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75157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類別之間要平衡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資料要怎麼切？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Edge Impulse 預設：60% 訓練 / 20% 驗證 / 20% 測試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Training 訓練集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更新模型參數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（讓模型學）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9456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468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Validation 驗證集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1089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02336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調超參數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（看學得好不好）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9456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Test 測試集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089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02336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最後一次評分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（不可重複用）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重點：測試集用過一次就「污染」了。如果你看了測試結果回去改超參數，</a:t>
            </a:r>
          </a:p>
          <a:p>
            <a:pPr algn="l"/>
            <a:r>
              <a:rPr sz="14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它就變第二個驗證集，不再公正。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「99% 準確度」可能是個騙局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不平衡資料的陷阱 — Naive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想像一個資料集：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283464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83464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83464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83464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0312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模型：永遠猜「田」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4320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→ 準確度 99%！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657600"/>
            <a:ext cx="5943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但這個模型完全沒有「學到狗」。</a:t>
            </a:r>
          </a:p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它連一張狗都沒辨識出來。</a:t>
            </a:r>
          </a:p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→ 「準確度高」≠「模型有用」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解法：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各類別樣本數要平均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改用 F1 / Recall / Confusion Matrix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更狠的反例 — Accuracy 0.973，F1 只有 0.247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為什麼我們不只看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Accuracy（整體準確度）</a:t>
            </a:r>
          </a:p>
          <a:p>
            <a:pPr algn="ctr"/>
            <a:r>
              <a:rPr sz="24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24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0.973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F1 Score（少數類別）</a:t>
            </a:r>
          </a:p>
          <a:p>
            <a:pPr algn="ctr"/>
            <a:r>
              <a:rPr sz="24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24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0.247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情境：1000 張圖裡只有 30 張是「異常」。</a:t>
            </a:r>
          </a:p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模型全猜「正常」 → 準確度 97%，但抓到的異常 = 0。</a:t>
            </a:r>
          </a:p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★ 在跌倒偵測、設備異常、瑕疵檢測這類「少數類」任務，</a:t>
            </a:r>
          </a:p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    絕對不能只看 Accuracy。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Part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資料從哪裡來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別從零開始 — Don't collect from scratch.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業界等級資料集有多大？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你可能會被嚇到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4114800" cy="5943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ImageNet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1031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400 萬+ 張標註圖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4114800" cy="5943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COCO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8346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250 萬+ 張分割圖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74720"/>
            <a:ext cx="4114800" cy="5943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Common 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566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5000+ 小時語音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4114800" cy="5943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Waymo 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2976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1950 段 20 秒駕駛影像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60"/>
            <a:ext cx="4114800" cy="5943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KITTI 360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50292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73 公里車載資料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436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★ 這些都是「人類花幾百萬小時手工蓋出來」的 — 你不可能也這樣搞。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TinyML 怎麼弄資料？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四種務實做法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① 直接用現有資料集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2377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TF Datasets / Kaggle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Google Speech Commands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0312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37744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② 改造現有資料集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474720"/>
            <a:ext cx="2377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Visual Wake Words 由 COCO 改造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挑出「人 vs 沒人」二分類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0312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③ 遷移學習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74720"/>
            <a:ext cx="2377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用大資料集訓練的特徵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少量資料 fine-tune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210312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37744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④ 自己生成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474720"/>
            <a:ext cx="2377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模擬器 / 生成模型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用 AI 補資料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★ MPU6050 案例：可以自己錄 + 用 Edge Impulse 內建的 5 分鐘錄製工具，門檻低。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Edge Impulse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把整套資料工程 + 模型工程 + 部署 包成 Web 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資料收集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手機 / Arduino</a:t>
            </a:r>
          </a:p>
          <a:p>
            <a:pPr algn="l"/>
            <a:r>
              <a:rPr sz="13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直接錄到平台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10128" y="3291840.0"/>
            <a:ext cx="100584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210312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3774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特徵抽取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01752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Spectral Analysis</a:t>
            </a:r>
          </a:p>
          <a:p>
            <a:pPr algn="l"/>
            <a:r>
              <a:rPr sz="13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MFCC, Spectrogram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90488" y="3291840.0"/>
            <a:ext cx="100584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09360" y="210312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模型訓練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視覺化拉拉就好</a:t>
            </a:r>
          </a:p>
          <a:p>
            <a:pPr algn="l"/>
            <a:r>
              <a:rPr sz="13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背後是 Keras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70848" y="3291840.0"/>
            <a:ext cx="100584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89720" y="210312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3774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01752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一鍵生成</a:t>
            </a:r>
          </a:p>
          <a:p>
            <a:pPr algn="l"/>
            <a:r>
              <a:rPr sz="13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C++ / Arduino 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463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支援格式：WAV / JPG / PNG / CBOR / JSON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對新尖兵班的意義 —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你不用寫 PyTorch、不用 SSH 進 GPU server，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用 MPU6050 + 瀏覽器就能跑完整流程。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資料一定有偏誤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Sources of Bias — 在語音辨識這個經典案例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性別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228600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年齡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28600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口音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28600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方言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228600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185A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185ABC"/>
                </a:solidFill>
                <a:latin typeface="Google Sans"/>
                <a:ea typeface="Noto Sans TC"/>
                <a:cs typeface="Google Sans"/>
              </a:rPr>
              <a:t>語言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如果你訓練資料的口音、性別、年齡都偏向某一群人 —</a:t>
            </a:r>
          </a:p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→ 模型對其他族群的表現會變差。</a:t>
            </a:r>
          </a:p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MPU6050 動作辨識也一樣：</a:t>
            </a:r>
          </a:p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如果只收「年輕人快速手勢」，老人慢動作就不會被辨識到。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負責任地收集資料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在台灣，這些是底線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個資法 PIPA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965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個人可識別資訊要去識別化、要取得同意。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5146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→ 用戶有「被遺忘權」— 隨時可以撤回。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授權與版權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3375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別人的資料集 ≠ 可以拿來商用。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CC-BY-NC、MIT、Apache 都不一樣。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862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→ 公司產品要用，先看 LICENSE。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09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資料標註平台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709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Label Studio、CVAT、Roboflow Annotate。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或自架 + 找標註員。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257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→ 標註員本身也是偏誤來源 — 要交叉檢查。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Part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從原始訊號到分類結果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特徵抽取 + 模型訓練 + 評估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「特徵 Feature」是什麼？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Feature = 從原始資料中抽出來、可以拿來做決策的量化屬性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舉例 — 你想分辨「左右揮 vs 上下揮 vs 畫圈 vs 靜止」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輸入：MPU6050 加速度 (x, y, 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可能的特徵：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各軸的 RMS（震幅大小）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各軸的峰值頻率（揮的快不快）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PSD 功率譜密度（能量分佈）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各軸最大值 / 最小值 / 標準差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為什麼不能直接把原始訊號丟進神經網路？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2 秒視窗 × 62.5Hz × 3 軸 = 375 個輸入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4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原始輸入：125 點 × 3 軸 = 375 個數字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計算太重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375 個輸入 → MCU 跑不動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38404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4023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需要大量訓練資料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466344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輸入維度高 → 易過擬合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8" y="38404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8" y="4023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高維輸入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8" y="466344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神經網路不容易學到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→ 解法：先做特徵抽取，把 375 個數字濃縮成 30 個。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特徵抽取的威力 — 375 → 33 →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把輸入濃縮 100 倍，準確度通常還變更好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375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原始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125 點 × 3 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24528" y="3794760.0"/>
            <a:ext cx="100584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43400" y="219456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46888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404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頻譜特徵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3891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Peak / RMS / PSD</a:t>
            </a:r>
          </a:p>
          <a:p>
            <a:pPr algn="ctr"/>
            <a:r>
              <a:rPr sz="13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每軸 11 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19288" y="3794760.0"/>
            <a:ext cx="100584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60" y="219456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46888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8404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核心特徵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38912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X/Y/Z 各 1 個 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★ 100 倍壓縮 — MCU 跑得動，模型也學得快。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時域 → 頻域：FFT 與 PSD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看不到的規律，到頻域就跑出來了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時域 Time Domain</a:t>
            </a:r>
          </a:p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m/s² vs 時間</a:t>
            </a:r>
          </a:p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看波形 — 直覺，但難分類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頻域 Frequency Domain</a:t>
            </a:r>
          </a:p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能量 vs 頻率 (Hz)</a:t>
            </a:r>
          </a:p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看頻譜 — 機器特徵明顯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MPU6050 案例：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馬達轉速變化 → 在頻譜會出現新的峰，時域看波形完全看不出來。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完整的機器學習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從感測器到推論結果，這條 pipeline 你會看一輩子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2560320"/>
            <a:ext cx="2194560" cy="16459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收集資料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87168" y="3383280.0"/>
            <a:ext cx="128016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33472" y="2560320"/>
            <a:ext cx="2194560" cy="16459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前處理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46320" y="3383280.0"/>
            <a:ext cx="128016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92624" y="2560320"/>
            <a:ext cx="2194560" cy="16459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特徵抽取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05472" y="3383280.0"/>
            <a:ext cx="128016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51776" y="2560320"/>
            <a:ext cx="2194560" cy="16459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模型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64624" y="3383280.0"/>
            <a:ext cx="128016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10928" y="2560320"/>
            <a:ext cx="2194560" cy="16459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185A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185ABC"/>
                </a:solidFill>
                <a:latin typeface="Google Sans"/>
                <a:ea typeface="Noto Sans TC"/>
                <a:cs typeface="Google Sans"/>
              </a:rPr>
              <a:t>分類結果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推論 (Inference)：用訓練好的模型，對「沒看過」的真實世界資料做預測。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★ 練習 MPU6050 時，這 5 個方塊每一個都要動手做一次。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模型訓練的循環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預測 → 算誤差 → 反向傳播 → 再預測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1. 預測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377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模型用目前參數猜一個答案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0312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3774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2. 比對標籤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108960"/>
            <a:ext cx="2377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Predicted: Left-Right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Label: Idle ← 錯了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0312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3. 算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2377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Loss 函數量化「錯多少」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210312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3774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4. 更新權重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108960"/>
            <a:ext cx="2377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梯度下降 — 把參數往對的方向推一點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重複幾百次 = 1 個 epoch。訓練 50-100 個 epoch 是常態。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訓練要看的兩條曲線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Loss 與 Accuracy — 隨 epoch 變化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486400" cy="34747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Loss 曲線</a:t>
            </a:r>
          </a:p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訓練 loss → 持續下降</a:t>
            </a:r>
          </a:p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驗證 loss → 開始反彈時 = 過擬合警訊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486400" cy="34747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Accuracy 曲線</a:t>
            </a:r>
          </a:p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訓練 acc → 接近 100% 不一定好</a:t>
            </a:r>
          </a:p>
          <a:p>
            <a:pPr algn="ctr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驗證 acc → 才是真實表現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Edge Impulse 訓練完會直接秀這兩條曲線 — 學會看，就會調模型。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Part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怎麼評估模型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Confusion Matrix · Accuracy · F1 Score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混淆矩陣 (Confusion Matrix)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逐步填表 — 空白矩陣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828800" cy="36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實際標籤</a:t>
            </a:r>
          </a:p>
          <a:p>
            <a:pPr algn="ctr"/>
            <a:r>
              <a:rPr sz="1400" b="1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(Actual)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63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預測標籤 (Predicted)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圓圈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靜止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左右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上下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291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圓圈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2062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靜止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1206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左右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6035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上下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017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017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017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017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4846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846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4846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846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5760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5760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5760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760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從一張空表開始 — 想像驗證集還沒跑。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混淆矩陣 (Confusion Matrix)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逐步填表 — 先填對角線 — 對的部分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828800" cy="36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實際標籤</a:t>
            </a:r>
          </a:p>
          <a:p>
            <a:pPr algn="ctr"/>
            <a:r>
              <a:rPr sz="1400" b="1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(Actual)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63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預測標籤 (Predicted)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圓圈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靜止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左右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上下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291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圓圈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2062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靜止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1206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左右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6035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上下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017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205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017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017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017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4846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846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4846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846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5760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5760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5760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760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180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對角線 = 預測正確 (True Positive)。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混淆矩陣 (Confusion Matrix)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逐步填表 — 再填一列 — 看 row 1 模型在做什麼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828800" cy="36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實際標籤</a:t>
            </a:r>
          </a:p>
          <a:p>
            <a:pPr algn="ctr"/>
            <a:r>
              <a:rPr sz="1400" b="1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(Actual)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63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預測標籤 (Predicted)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圓圈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靜止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左右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上下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291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圓圈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2062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靜止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1206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左右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6035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上下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017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205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017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017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017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46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4846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846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4846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846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5760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5760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5760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760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180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看 row：實際是「圓圈」的樣本，模型把它預測成什麼？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混淆矩陣 (Confusion Matrix)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逐步填表 — 全部填滿 — 整體誤判情況一覽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828800" cy="36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實際標籤</a:t>
            </a:r>
          </a:p>
          <a:p>
            <a:pPr algn="ctr"/>
            <a:r>
              <a:rPr sz="1400" b="1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(Actual)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63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預測標籤 (Predicted)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圓圈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靜止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左右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上下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2918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圓圈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2062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靜止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1206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左右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6035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上下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017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205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017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017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017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46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32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4846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17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846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223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4846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8463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21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5760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50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5760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5760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31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760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180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整張表就是模型的「成績單」。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4 個術語先記起來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TP / TN / FP / FN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TP — True Positive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預測正、實際也是正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例：說有跌倒，確實跌了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24028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TN — True Negative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88036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預測負、實際也是負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例：說沒跌倒，確實沒跌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FP — False Positive (Type 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預測正、實際是負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例：誤報跌倒（很煩）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06908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062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FN — False Negative (Type II)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8463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預測負、實際是正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例：漏報跌倒（很危險）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★ 在醫療、安全領域 — FN 比 FP 嚴重得多。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三個你要會算的指標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Accuracy / Precision / Recall / F1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(TP + TN) / 總數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整體答對比例 — 不平衡時會騙人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0312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3774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10896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TP / (TP + FP)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2336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你說 yes 的，有多少是對的？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0312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0896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TP / (TP + FN)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實際 yes 的，你抓到多少？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2103120"/>
            <a:ext cx="27432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3774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F1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10896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2·P·R / (P + 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402336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Precision 與 Recall 的調和平均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Edge Impulse 訓練完都會幫你算好 — 重點是「你要知道該看哪一個」。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練習一題 — 算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從混淆矩陣 → 算 F1Score (class C)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假設 class C 的 TP = 162、FP = 18、FN = 33。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1064240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200" b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F1 = (2 × 162) / (2 × 162 + 18 + 33)</a:t>
            </a:r>
          </a:p>
          <a:p>
            <a:pPr algn="ctr"/>
            <a:r>
              <a:rPr sz="2200" b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     = 324 / 375</a:t>
            </a:r>
          </a:p>
          <a:p>
            <a:pPr algn="ctr"/>
            <a:r>
              <a:rPr sz="2200" b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     = 0.864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★ F1 = 0.864 表示 class C 的 precision 與 recall 都不錯。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    如果 F1 只剩 0.25，就要警覺 — 樣本可能不平衡，或模型沒學到 class C。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模型可能落在三個狀態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Underfit / Good Fit / Overfit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欠擬合 Underfit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模型沒抓到資料的規律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訓練 + 驗證準確度都低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剛好 Good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9184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抓到主要規律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能泛化到沒看過的資料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0312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3774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過擬合 Overfit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9184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把訓練集背起來了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碰到新資料就掛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Edge Impulse 平台直接幫你顯示三條曲線 — 你要會看。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Underfit 怎麼救？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模型太笨 — 給它更多 / 更多元的學習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收集更多資料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試不同 / 更多的特徵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57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訓練更久（多幾個 epoch）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89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用更大的模型（更多層、更多 node）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簡單講：模型還沒「想夠久」也「不夠聰明」— 給它機會。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Overfit 怎麼救？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模型太死板 — 別讓它把訓練集背起來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收集更多資料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06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提早停止 (Early Stopping)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91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降低模型複雜度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77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加入正則化 (Regularization)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20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663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加 Dropout 層（神經網路）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★ 90% 的時候 — 「更多資料」就是答案。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Part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動手做：MPU6050 動作分類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從零跑完整條 ML pipeline，這就是你期末專題的雛形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專題目標：設備震動分類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把 MCU 貼到一台機器上 — 判斷它在做什麼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情境：找一台你周圍會震動的機器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洗衣機 / 果汁機 / 空氣壓縮機 / 冰箱 / 冷氣 / 鍵盤打字 / 吊扇 / 烘衣機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分類類別：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2560320" cy="7315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關機 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4114800"/>
            <a:ext cx="2560320" cy="7315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輕載 Light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2560320" cy="7315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重載 Heavy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4114800"/>
            <a:ext cx="2560320" cy="7315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異常 Anomaly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為什麼有意義？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在工廠 — 同樣的方法可以做設備預測性維護 (PdM)。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不用改機台、不用大資料，30 元一顆 MPU6050 就能起步。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硬體與軟體清單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新尖兵班這套標配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硬體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3774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Arduino Nano 33 BLE Sense 或 ESP32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IMU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0175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MPU6050（如果用 Arduino BLE Sense 已內建 LSM9DS1）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固定方式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657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電工膠帶 / 雙面膠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線材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297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USB Type-C 或 Micro-USB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軟體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資料收集 + 訓練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377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Edge Impulse Studio (Web)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特徵抽取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0175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Spectral Analysis（內建）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學習區塊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657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Neural Network + K-means Anomaly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976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部署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297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Arduino library / .zip → Arduino IDE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Step 1：把開發板連到 Edge Impulse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用 CLI 把 MCU 認到雲端專案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202124"/>
          </a:solidFill>
          <a:ln w="12700">
            <a:solidFill>
              <a:srgbClr val="3C4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/>
            <a:r>
              <a:rPr sz="1800" b="0">
                <a:solidFill>
                  <a:srgbClr val="E8EAED"/>
                </a:solidFill>
                <a:latin typeface="Fira Code"/>
                <a:ea typeface="Fira Code"/>
                <a:cs typeface="Fira Code"/>
              </a:rPr>
              <a:t>npm install -g edge-impulse-cli</a:t>
            </a:r>
          </a:p>
          <a:p>
            <a:r>
              <a:rPr sz="1800" b="0">
                <a:solidFill>
                  <a:srgbClr val="E8EAED"/>
                </a:solidFill>
                <a:latin typeface="Fira Code"/>
                <a:ea typeface="Fira Code"/>
                <a:cs typeface="Fira Code"/>
              </a:rPr>
              <a:t>edge-impulse-daemon --clean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--clean = 切換到新專案時清除舊設定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跑起來會問你登入 + 選 Serial Port + 選 / 新建專案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連成功，在 Edge Impulse Studio 的 Devices 頁會看到你的板子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Step 2：收資料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每個 class 至少 2 分鐘訓練資料 + 30 秒測試資料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先標籤、再錄音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別錄完忘記分類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240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Sampling rate 62.5 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788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對動作分類已經夠用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Window 2 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一筆樣本 = 2 秒 = 125 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90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611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各 class 樣本數要平均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1605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避免變成 Naive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★ 工程師的常見錯：訓練資料只在一個位置收 → 模型對位置敏感。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    建議：每個 class 在 2-3 個不同位置 / 不同負載各錄一輪。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Step 3：Impulse 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資料 → 處理 → 學習 → 輸出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56032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Time series</a:t>
            </a:r>
          </a:p>
          <a:p>
            <a:pPr algn="ctr"/>
            <a:r>
              <a:rPr sz="18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27248" y="3474720.0"/>
            <a:ext cx="146304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91840" y="256032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Spectral</a:t>
            </a:r>
          </a:p>
          <a:p>
            <a:pPr algn="ctr"/>
            <a:r>
              <a:rPr sz="18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Analysis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53328" y="3474720.0"/>
            <a:ext cx="146304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0" y="256032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Neural</a:t>
            </a:r>
          </a:p>
          <a:p>
            <a:pPr algn="ctr"/>
            <a:r>
              <a:rPr sz="18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Network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79408" y="3474720.0"/>
            <a:ext cx="146304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0" y="256032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185A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185ABC"/>
                </a:solidFill>
                <a:latin typeface="Google Sans"/>
                <a:ea typeface="Noto Sans TC"/>
                <a:cs typeface="Google Sans"/>
              </a:rPr>
              <a:t>Output</a:t>
            </a:r>
          </a:p>
          <a:p>
            <a:pPr algn="ctr"/>
            <a:r>
              <a:rPr sz="1800" b="1">
                <a:solidFill>
                  <a:srgbClr val="185ABC"/>
                </a:solidFill>
                <a:latin typeface="Google Sans"/>
                <a:ea typeface="Noto Sans TC"/>
                <a:cs typeface="Google Sans"/>
              </a:rPr>
              <a:t>(4 class)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Spectral Analysis 會把 (x, y, z) → 11 個頻譜特徵 / 軸 = 33 個輸入。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後面接一個小型 Dense Network (32-16-4) — 完全跑得在 MCU 上。</a:t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l"/>
            <a:r>
              <a:rPr sz="15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另外可選 K-means Anomaly Detection 區塊 — 用來抓沒看過的怪震動。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Step 4：按下訓練，看混淆矩陣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判讀 — 哪幾類常被搞混？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4285F4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驗證準確度 80-95% 是正常範圍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看對角線哪一格特別淡 → 那一類學不好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7472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FBBC05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661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看哪兩類常被互換 → 它們特徵太接近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8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976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如果驗證 loss 比訓練 loss 高很多 → 過擬合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調整方向：</a:t>
            </a:r>
          </a:p>
          <a:p>
            <a:pPr algn="l"/>
            <a:r>
              <a:rPr sz="14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增 epoch / 加 node / 加 layer / 加正則化 / 加資料量 — 不要一次調全部，一次一項。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Step 5：測試 + 部署到 Arduino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從雲端 → MCU 只要 3 個按鈕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① Model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用 20% test set 跑一次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看真實表現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② Deployment &gt; Arduino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9184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下載 .zip 檔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（內含 TFLite Micro 模型）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0312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3774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③ Arduino 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9184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Sketch &gt; Include Library &gt; Add .ZIP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選範例 nano_ble33_sense_accelerometer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★ 編譯時間約 5-10 分鐘。完成後打開 Serial Monitor 就能看到分類結果。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進階：把結果 MQTT 上傳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銜接新尖兵班「AIoT 整合」單元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2560320"/>
            <a:ext cx="2697480" cy="16459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5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MPU6050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90088" y="3383280.0"/>
            <a:ext cx="146304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154680" y="2560320"/>
            <a:ext cx="2697480" cy="16459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5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ESP32 + TFLite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70448" y="3383280.0"/>
            <a:ext cx="146304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35040" y="2560320"/>
            <a:ext cx="2697480" cy="16459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5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MQTT Broker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50808" y="3383280.0"/>
            <a:ext cx="146304" cy="0.0"/>
          </a:xfrm>
          <a:prstGeom prst="bentConnector3">
            <a:avLst/>
          </a:prstGeom>
          <a:ln w="1905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15400" y="2560320"/>
            <a:ext cx="2697480" cy="16459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3175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5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Node-RED 儀表板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Publish 主題範例：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  factory/machine_A/status   →  {"class":"heavy","score":0.87}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  factory/machine_A/anomaly  →  {"value":0.42}</a:t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/>
            </a:r>
          </a:p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後續課程教 Node-RED 把這些 topic 拉到儀表板顯示。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10 個你會踩到的坑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上課前先看一次，少走 80% 冤枉路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資料只在一個位置收 → 模型對位置敏感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各 class 樣本數差太多 → Accuracy 騙人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747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661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Window 大小選錯 → 抓不到動作特徵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891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Sampling rate 太低 → 高頻訊號漏掉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2120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訓練集和測試集污染 (Data leakage)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8288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9202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只看 Accuracy 沒看混淆矩陣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651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74320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驗證 loss 已經反彈還繼續訓練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747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5661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模型太大塞不進 MCU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2976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3891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沒固定好板子 → 震動雜訊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51206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A4335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52120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把 Edge Impulse 預設超參數當聖經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五句話帶走 M3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回去複習就抓這 5 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資料 &gt; 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96596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90% 的努力在資料工程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EA4335"/>
                </a:solidFill>
                <a:latin typeface="Google Sans"/>
                <a:ea typeface="Noto Sans TC"/>
                <a:cs typeface="Google Sans"/>
              </a:rPr>
              <a:t>好資料 6 條件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8346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問題、特徵、人能分、可量化、量質、分佈、標籤、平衡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FBBC05"/>
                </a:solidFill>
                <a:latin typeface="Google Sans"/>
                <a:ea typeface="Noto Sans TC"/>
                <a:cs typeface="Google Sans"/>
              </a:rPr>
              <a:t>ML Lifecycle 5 階段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7033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基建 → 資料 → 模型 → 部署 → 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3484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34A853"/>
                </a:solidFill>
                <a:latin typeface="Google Sans"/>
                <a:ea typeface="Noto Sans TC"/>
                <a:cs typeface="Google Sans"/>
              </a:rPr>
              <a:t>混淆矩陣比 Accuracy 重要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5720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Accuracy 0.973 但 F1 0.247 — 別被騙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0352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185A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600" b="1">
                <a:solidFill>
                  <a:srgbClr val="185ABC"/>
                </a:solidFill>
                <a:latin typeface="Google Sans"/>
                <a:ea typeface="Noto Sans TC"/>
                <a:cs typeface="Google Sans"/>
              </a:rPr>
              <a:t>特徵抽取就是壓縮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544068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375 → 33 → 3 — MCU 才跑得動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Your Turn — 你的作業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把今天的概念變成你能 demo 的東西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745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註冊 Edge Impulse 帳號，開一個新專案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146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拿出 Arduino BLE Sense（或 ESP32 + MPU6050）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546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選一台你家會震動的機器（電風扇 / 果汁機 / 烘衣機都可以）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947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錄 3 個 class，各 2 分鐘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891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34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訓練 → 看混淆矩陣 → 拍下來分享到課程討論區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40000" bIns="40000"/>
          <a:lstStyle/>
          <a:p>
            <a:pPr algn="ctr"/>
            <a:r>
              <a:rPr sz="1400" b="1">
                <a:solidFill>
                  <a:srgbClr val="FFFFFF"/>
                </a:solidFill>
                <a:latin typeface="Google Sans"/>
                <a:ea typeface="Noto Sans TC"/>
                <a:cs typeface="Google San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749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下課前完成最重要：寫一句「我學到 X 比 Y 重要」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下一站：M4 模型部署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接下來教「怎麼把模型塞進 256KB」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097280" cy="28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你會學到：</a:t>
            </a:r>
          </a:p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TensorFlow Lite Micro 的設計</a:t>
            </a:r>
          </a:p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量化 (Quantization) — 從 float32 變 int8</a:t>
            </a:r>
          </a:p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Pruning、Knowledge Distillation 三大壓縮術</a:t>
            </a:r>
          </a:p>
          <a:p>
            <a:pPr algn="l"/>
            <a:r>
              <a:rPr sz="1800" b="0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• 為什麼「不是所有 MCU 都一樣」 — 效能取捨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★ 把 M3 學會 + M4 的部署技巧 = 你能獨立做出一個 TinyML 完整專案。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4285F4"/>
                </a:solidFill>
                <a:latin typeface="Google Sans"/>
                <a:ea typeface="Noto Sans TC"/>
                <a:cs typeface="Google Sans"/>
              </a:rPr>
              <a:t>「好資料是準確度的必要條件。」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Module 3 / 機器學習工作流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C4043"/>
                </a:solidFill>
                <a:latin typeface="Google Sans"/>
                <a:ea typeface="Noto Sans TC"/>
                <a:cs typeface="Google Sans"/>
              </a:rPr>
              <a:t>講師：Harry / 蘇泓舉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368"/>
                </a:solidFill>
                <a:latin typeface="Google Sans"/>
                <a:ea typeface="Noto Sans TC"/>
                <a:cs typeface="Google Sans"/>
              </a:rPr>
              <a:t>原始教材：Harvard TinyMLx + Edge Impulse / 中文化重編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