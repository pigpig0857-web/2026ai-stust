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6032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3C4043"/>
                </a:solidFill>
                <a:latin typeface="Google Sans"/>
                <a:ea typeface="Noto Sans TC"/>
              </a:rPr>
              <a:t>模型部署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5F6368"/>
                </a:solidFill>
                <a:latin typeface="Google Sans"/>
                <a:ea typeface="Noto Sans TC"/>
              </a:rPr>
              <a:t>把 TinyML 模型塞進 MCU 的標準答案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480560"/>
            <a:ext cx="274320" cy="27432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80160" y="4480560"/>
            <a:ext cx="274320" cy="27432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37360" y="4480560"/>
            <a:ext cx="274320" cy="27432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560" y="4480560"/>
            <a:ext cx="274320" cy="27432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852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講師：Harry / 蘇泓舉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1792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 AI </a:t>
            </a:r>
            <a:r>
              <a:rPr sz="1400" b="0" i="0" dirty="0" err="1">
                <a:solidFill>
                  <a:srgbClr val="5F6368"/>
                </a:solidFill>
                <a:latin typeface="Google Sans"/>
                <a:ea typeface="Noto Sans TC"/>
              </a:rPr>
              <a:t>應用開發課程</a:t>
            </a:r>
            <a:endParaRPr sz="1400" b="0" i="0" dirty="0">
              <a:solidFill>
                <a:srgbClr val="5F6368"/>
              </a:solidFill>
              <a:latin typeface="Google Sans"/>
              <a:ea typeface="Noto Sans T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本模組你會學到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" cy="20116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73736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為什麼要量化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6888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把 32-bit float 壓成 8-bit int，模型小 4 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109728" cy="20116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怎麼量化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46888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PTQ 訓練後量化 vs QAT 量化感知訓練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23360"/>
            <a:ext cx="109728" cy="20116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框架選哪個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TensorFlow vs TFLite vs TFLite Micro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023360"/>
            <a:ext cx="109728" cy="20116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4114800"/>
            <a:ext cx="5120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3C4043"/>
                </a:solidFill>
                <a:latin typeface="Google Sans"/>
                <a:ea typeface="Noto Sans TC"/>
              </a:rPr>
              <a:t>塞進什麼硬體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846320"/>
            <a:ext cx="51206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Pico 2 W、Arduino、MPU6050 感測組合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課程開場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你訓練了一個 16.9 MB 的模型。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EA4335"/>
                </a:solidFill>
                <a:latin typeface="Google Sans"/>
                <a:ea typeface="Noto Sans TC"/>
              </a:rPr>
              <a:t>你的 MCU 只有 256 KB RAM。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5F6368"/>
                </a:solidFill>
                <a:latin typeface="Google Sans"/>
                <a:ea typeface="Noto Sans TC"/>
              </a:rPr>
              <a:t>差距：約 70 倍。怎麼辦？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→ 量化 + TFLite Micro = 把模型塞進 MCU 的標準答案。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1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3C4043"/>
                </a:solidFill>
                <a:latin typeface="Google Sans"/>
                <a:ea typeface="Noto Sans TC"/>
              </a:rPr>
              <a:t>為什麼要量化？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Why Quantization — 從 float32 到 int8 的世界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371600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0" y="5120640"/>
            <a:ext cx="1371600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1371600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0" y="5120640"/>
            <a:ext cx="1371600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什麼是量化（Quantization）？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量化是一種最佳化技術 — 把模型參數的精度降低。</a:t>
            </a:r>
          </a:p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預設用 32 位元浮點數（float32）表示，量化後改用 8 位元整數（int8）。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三個直接好處：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338328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3383280" cy="73152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4348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模型體積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492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4285F4"/>
                </a:solidFill>
                <a:latin typeface="Google Sans"/>
                <a:ea typeface="Noto Sans TC"/>
              </a:rPr>
              <a:t>縮小 4 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4206240"/>
            <a:ext cx="338328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89120" y="4206240"/>
            <a:ext cx="3383280" cy="73152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44348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推論延遲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507492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EA4335"/>
                </a:solidFill>
                <a:latin typeface="Google Sans"/>
                <a:ea typeface="Noto Sans TC"/>
              </a:rPr>
              <a:t>降 2–4 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9" y="4206240"/>
            <a:ext cx="3383280" cy="18288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59" y="4206240"/>
            <a:ext cx="3383280" cy="73152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59" y="4434840"/>
            <a:ext cx="3383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可攜性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5074920"/>
            <a:ext cx="338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34A853"/>
                </a:solidFill>
                <a:latin typeface="Google Sans"/>
                <a:ea typeface="Noto Sans TC"/>
              </a:rPr>
              <a:t>支援更多硬體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從 float32 壓到 int8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</a:rPr>
              <a:t>float32  — 32 位元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範圍：±max  （連續分布，精度高但佔記憶體）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int8  — 8 位元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274320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4526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範圍：−128 ~ +127  （256 級離散，記憶體只佔 1/4）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0352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3C4043"/>
                </a:solidFill>
                <a:latin typeface="Google Sans"/>
                <a:ea typeface="Noto Sans TC"/>
              </a:rPr>
              <a:t>重點：分布形狀沒變，只是格子變粗。多數權重落在小範圍內，loss 很小。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好處 1／3：模型體積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3C4043"/>
                </a:solidFill>
                <a:latin typeface="Google Sans"/>
                <a:ea typeface="Noto Sans TC"/>
              </a:rPr>
              <a:t>32 → 8 bits，記憶體直接砍 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3657600" cy="3200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oogle Sans"/>
                <a:ea typeface="Noto Sans TC"/>
              </a:rPr>
              <a:t>float32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0292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Google Sans"/>
                <a:ea typeface="Noto Sans TC"/>
              </a:rP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5120640"/>
            <a:ext cx="1828800" cy="8229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53035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int8 25%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200400"/>
            <a:ext cx="34747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對應到 Pico 2 W：</a:t>
            </a:r>
          </a:p>
          <a:p>
            <a:pPr algn="l"/>
            <a:endParaRPr sz="1600" b="0" i="0">
              <a:solidFill>
                <a:srgbClr val="3C4043"/>
              </a:solidFill>
              <a:latin typeface="Google Sans"/>
              <a:ea typeface="Noto Sans TC"/>
            </a:endParaRP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Flash：2 MB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SRAM：520 KB</a:t>
            </a:r>
          </a:p>
          <a:p>
            <a:pPr algn="l"/>
            <a:endParaRPr sz="1600" b="0" i="0">
              <a:solidFill>
                <a:srgbClr val="3C4043"/>
              </a:solidFill>
              <a:latin typeface="Google Sans"/>
              <a:ea typeface="Noto Sans TC"/>
            </a:endParaRP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一個 500 KB 的 float 模型，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量化後只剩 125 KB，塞得下了。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好處 2／3：推論延遲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3C4043"/>
                </a:solidFill>
                <a:latin typeface="Google Sans"/>
                <a:ea typeface="Noto Sans TC"/>
              </a:rPr>
              <a:t>int8 比 fp32 在 CPU 上快 2–4 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MobileNet v1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651760"/>
            <a:ext cx="7772400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0" y="26517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float32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063240"/>
            <a:ext cx="2331720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59" y="306324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4A853"/>
                </a:solidFill>
                <a:latin typeface="Google Sans"/>
                <a:ea typeface="Noto Sans TC"/>
              </a:rPr>
              <a:t>int8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ResNet v2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703320"/>
            <a:ext cx="7772400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07040" y="370332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float32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114800"/>
            <a:ext cx="2720339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554979" y="41148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4A853"/>
                </a:solidFill>
                <a:latin typeface="Google Sans"/>
                <a:ea typeface="Noto Sans TC"/>
              </a:rPr>
              <a:t>int8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54880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Inception v3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4754880"/>
            <a:ext cx="7772400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07040" y="475488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float32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5166360"/>
            <a:ext cx="3108960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0" y="516636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34A853"/>
                </a:solidFill>
                <a:latin typeface="Google Sans"/>
                <a:ea typeface="Noto Sans TC"/>
              </a:rPr>
              <a:t>int8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1">
                <a:solidFill>
                  <a:srgbClr val="5F6368"/>
                </a:solidFill>
                <a:latin typeface="Google Sans"/>
                <a:ea typeface="Noto Sans TC"/>
              </a:rPr>
              <a:t>推論變快  →  反應更即時  →  耗電也跟著降。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好處 3／3：可攜性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很多 MCU 根本沒有浮點運算單元（FPU）。</a:t>
            </a:r>
          </a:p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Cortex-M0 / M0+：完全沒 FPU</a:t>
            </a:r>
          </a:p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Cortex-M3：沒 FPU</a:t>
            </a:r>
          </a:p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Cortex-M4 / M7：才開始有 FPU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23360"/>
            <a:ext cx="10972800" cy="1280160"/>
          </a:xfrm>
          <a:prstGeom prst="rect">
            <a:avLst/>
          </a:prstGeom>
          <a:solidFill>
            <a:srgbClr val="F8F9FA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1605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BBC05"/>
                </a:solidFill>
                <a:latin typeface="Google Sans"/>
                <a:ea typeface="Noto Sans TC"/>
              </a:rPr>
              <a:t>金句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1">
                <a:solidFill>
                  <a:srgbClr val="3C4043"/>
                </a:solidFill>
                <a:latin typeface="Google Sans"/>
                <a:ea typeface="Noto Sans TC"/>
              </a:rPr>
              <a:t>"Not all embedded systems are created equal."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4285F4"/>
                </a:solidFill>
                <a:latin typeface="Google Sans"/>
                <a:ea typeface="Noto Sans TC"/>
              </a:rPr>
              <a:t>→ 量化讓模型「下沉」到沒 FPU 的廉價 MCU，市場就打開了。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數字震撼：MCU 不是縮小版的 MPU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645920"/>
            <a:ext cx="36576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691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Microcontroller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645920"/>
            <a:ext cx="36576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Microprocessor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840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差距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運算頻率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103120"/>
            <a:ext cx="36576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68880" y="23317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1 MHz – 400 MHz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103120"/>
            <a:ext cx="36576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26480" y="23317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1 GHz – 4 GHz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840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10×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3154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RAM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292608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154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2 KB – 512 KB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92608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3154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512 MB – 64 GB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0" y="3154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100,000×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39776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儲存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3749040"/>
            <a:ext cx="36576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468880" y="39776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32 KB – 2 MB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749040"/>
            <a:ext cx="36576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26480" y="39776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64 GB – 4 TB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7840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84080" y="39776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1,000,000×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" y="457200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" y="4800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功耗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457200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468880" y="4800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150 µW – 23.5 mW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572000"/>
            <a:ext cx="36576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26480" y="48006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EA4335"/>
                </a:solidFill>
                <a:latin typeface="Google Sans"/>
                <a:ea typeface="Noto Sans TC"/>
              </a:rPr>
              <a:t>30 W – 300 W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457200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784080" y="48006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10,000×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→ 別把 MCU 當小 PC 看。設計起點要從這些數字開始。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2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3C4043"/>
                </a:solidFill>
                <a:latin typeface="Google Sans"/>
                <a:ea typeface="Noto Sans TC"/>
              </a:rPr>
              <a:t>怎麼量化 — PTQ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Post-training Quantization：訓練後量化，五行程式碼搞定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371600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0" y="5120640"/>
            <a:ext cx="1371600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1371600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0" y="5120640"/>
            <a:ext cx="1371600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神經網路裡，哪些東西可以量化？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3716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Weights 權重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層與層之間的參數，最大宗，最該量化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743200"/>
            <a:ext cx="137160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Biases 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每層的偏移量，數量少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40480"/>
            <a:ext cx="137160" cy="914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Activations 激活值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中間層的輸出，動態範圍變動大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37760"/>
            <a:ext cx="137160" cy="914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937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Tensors / Channels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可以更細粒度地分組量化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離散化：把連續壓進 256 個格子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</a:rPr>
              <a:t>原始 32-bit float 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2560320"/>
            <a:ext cx="10972800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80160" y="2468880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-5.4</a:t>
            </a:r>
          </a:p>
        </p:txBody>
      </p:sp>
      <p:sp>
        <p:nvSpPr>
          <p:cNvPr id="12" name="Oval 11"/>
          <p:cNvSpPr/>
          <p:nvPr/>
        </p:nvSpPr>
        <p:spPr>
          <a:xfrm>
            <a:off x="6035040" y="2468880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60720" y="27432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0.0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60" y="2468880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149840" y="27432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4285F4"/>
                </a:solidFill>
                <a:latin typeface="Google Sans"/>
                <a:ea typeface="Noto Sans TC"/>
              </a:rPr>
              <a:t>4.5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8-bit 編碼  （0 ~ 255）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4846320"/>
            <a:ext cx="54864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937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846320"/>
            <a:ext cx="54864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0" y="4937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127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241280" y="4846320"/>
            <a:ext cx="54864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0" y="4937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255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重建時用線性映射還原 → 一定有誤差，但通常可接受。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量化兩條路線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4285F4"/>
                </a:solidFill>
                <a:latin typeface="Google Sans"/>
                <a:ea typeface="Noto Sans TC"/>
              </a:rPr>
              <a:t>PTQ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Post-training Quantization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訓練完才量化</a:t>
            </a:r>
          </a:p>
          <a:p>
            <a:pPr algn="l"/>
            <a:endParaRPr sz="1600" b="0" i="0">
              <a:solidFill>
                <a:srgbClr val="3C4043"/>
              </a:solidFill>
              <a:latin typeface="Google Sans"/>
              <a:ea typeface="Noto Sans TC"/>
            </a:endParaRP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5 行程式碼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不用重訓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可能掉準度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適合快速試水溫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03520" cy="41148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0" y="201168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34A853"/>
                </a:solidFill>
                <a:latin typeface="Google Sans"/>
                <a:ea typeface="Noto Sans TC"/>
              </a:rPr>
              <a:t>QAT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6060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Quantization-aware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383280"/>
            <a:ext cx="47548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訓練時就模擬量化</a:t>
            </a:r>
          </a:p>
          <a:p>
            <a:pPr algn="l"/>
            <a:endParaRPr sz="1600" b="0" i="0">
              <a:solidFill>
                <a:srgbClr val="3C4043"/>
              </a:solidFill>
              <a:latin typeface="Google Sans"/>
              <a:ea typeface="Noto Sans TC"/>
            </a:endParaRP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需要重新訓練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準度損失最小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較複雜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・ 適合上線前最佳化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1／5：最小可行程式碼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TensorFlow Lite Converter，五行搞定：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0" cy="32004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import tensorflow as tf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converter = tf.lite.TFLiteConverter.from_saved_model(MODEL_DIR)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converter.optimizations = [tf.lite.Optimize.DEFAULT]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tflite_model = converter.convert()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with open('model.tflite', 'wb') as f: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    f.write(tflite_model)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4285F4"/>
                </a:solidFill>
                <a:latin typeface="Google Sans"/>
                <a:ea typeface="Noto Sans TC"/>
              </a:rPr>
              <a:t>→ Optimize.DEFAULT 預設會把 weights 壓成 int8。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2／5：Optimize 三種選項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tf.lite.Optimize.DEFAULT          # 平衡：size + latency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tf.lite.Optimize.OPTIMIZE_FOR_SIZE    # 模型最小</a:t>
            </a:r>
          </a:p>
          <a:p>
            <a:pPr algn="l"/>
            <a:r>
              <a:rPr sz="1600" b="0" i="0">
                <a:solidFill>
                  <a:srgbClr val="E8EAED"/>
                </a:solidFill>
                <a:latin typeface="Fira Code"/>
                <a:ea typeface="Fira Code"/>
              </a:rPr>
              <a:t>tf.lite.Optimize.OPTIMIZE_FOR_LATENCY # 推論最快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36576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3657600" cy="914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4114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DEFAULT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權衡兼顧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新手先選這個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19" y="3840480"/>
            <a:ext cx="36576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19" y="3840480"/>
            <a:ext cx="3657600" cy="9144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19" y="4114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FOR_SIZE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19" y="4754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模型最小化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9" y="53949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Flash 吃緊時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3840480"/>
            <a:ext cx="3657600" cy="2286000"/>
          </a:xfrm>
          <a:prstGeom prst="rect">
            <a:avLst/>
          </a:prstGeom>
          <a:solidFill>
            <a:srgbClr val="F8F9FA"/>
          </a:solidFill>
          <a:ln w="9525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58" y="3840480"/>
            <a:ext cx="3657600" cy="914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58" y="41148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EA4335"/>
                </a:solidFill>
                <a:latin typeface="Google Sans"/>
                <a:ea typeface="Noto Sans TC"/>
              </a:rPr>
              <a:t>FOR_LATENCY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8" y="4754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推論最快化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8" y="539496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即時性要求高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3／5：完整 int8 量化（含 activations）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光壓 weights 不夠 — 給一段「代表性資料」讓 converter 量校 activations：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6070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def representative_dataset():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for x, _ in train_ds.take(100):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    yield [x]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converter.optimizations = [tf.lite.Optimize.DEFAULT]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converter.representative_dataset = representative_dataset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converter.target_spec.supported_ops = [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tf.lite.OpsSet.TFLITE_BUILTINS_INT8]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converter.inference_input_type  = tf.int8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converter.inference_output_type = tf.int8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tflite_model = converter.convert()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→ 這版才能部署到 TFLite Micro。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4／5：跑完看結果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18288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$ ls -lh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model.h5         2.4M     # 原始 Keras 模型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model.tflite     613K     # 預設 PTQ（weights only）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model_int8.tflite 158K    # 完整 int8 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壓縮比：2.4 MB → 158 KB ≈ 15×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Pico 2 W 的 SRAM 520 KB，現在塞得下了。</a:t>
            </a:r>
          </a:p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但 — 準度呢？ 下一頁見真章。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範例 5／5：先在電腦上驗證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5F6368"/>
                </a:solidFill>
                <a:latin typeface="Google Sans"/>
                <a:ea typeface="Noto Sans TC"/>
              </a:rPr>
              <a:t>別急著燒進 MCU。先用 Python 的 Interpreter 驗一下：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10972800" cy="36576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240280"/>
            <a:ext cx="10607040" cy="3383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interpreter = tf.lite.Interpreter(model_path='model_int8.tflite')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interpreter.allocate_tensors()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in_idx  = interpreter.get_input_details()[0]['index']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out_idx = interpreter.get_output_details()[0]['index']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interpreter.set_tensor(in_idx, x_test_int8)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interpreter.invoke()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pred = interpreter.get_output_tensor(out_idx)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4285F4"/>
                </a:solidFill>
                <a:latin typeface="Google Sans"/>
                <a:ea typeface="Noto Sans TC"/>
              </a:rPr>
              <a:t>電腦上量化版的準度 ≈ MCU 上的準度，提前抓問題比較省命。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敘事轉折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3C4043"/>
                </a:solidFill>
                <a:latin typeface="Google Sans"/>
                <a:ea typeface="Noto Sans TC"/>
              </a:rPr>
              <a:t>PTQ 壓完模型 — 體積對了、速度對了。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0" i="0">
                <a:solidFill>
                  <a:srgbClr val="3C4043"/>
                </a:solidFill>
                <a:latin typeface="Google Sans"/>
                <a:ea typeface="Noto Sans TC"/>
              </a:rPr>
              <a:t>但驗證集準度從 92% 掉到 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0" b="1" i="0">
                <a:solidFill>
                  <a:srgbClr val="EA4335"/>
                </a:solidFill>
                <a:latin typeface="Google Sans"/>
                <a:ea typeface="Noto Sans TC"/>
              </a:rPr>
              <a:t>:(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48640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（這張投影片完全沒文字，但比一千字有力）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EA4335"/>
                </a:solidFill>
                <a:latin typeface="Google Sans"/>
                <a:ea typeface="Noto Sans TC"/>
              </a:rPr>
              <a:t>為什麼準度會掉？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109728" cy="1005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離散化誤差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32-bit 連續值 → 8-bit 離散值，本質上有 quantization error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972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09728" cy="1005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精度不一致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權重壓成 int8，但 activations / accumulator 是不同寬度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931920"/>
            <a:ext cx="10972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931920"/>
            <a:ext cx="109728" cy="1005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069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多次轉換堆疊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computation: int8 → accumulation: int32 → rescaling: int8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74920"/>
            <a:ext cx="10972800" cy="10058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5074920"/>
            <a:ext cx="109728" cy="10058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分布尾巴被裁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235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極端值（outliers）會被夾掉，重要特徵可能失真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解藥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34A853"/>
                </a:solidFill>
                <a:latin typeface="Google Sans"/>
                <a:ea typeface="Noto Sans TC"/>
              </a:rPr>
              <a:t>Quantization-aware Training（QAT）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3C4043"/>
                </a:solidFill>
                <a:latin typeface="Google Sans"/>
                <a:ea typeface="Noto Sans TC"/>
              </a:rPr>
              <a:t>量化感知訓練 — 讓模型在訓練階段就「習慣」量化誤差。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核心三招：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828032"/>
            <a:ext cx="137160" cy="1371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在訓練流程中模擬推論時的量化路徑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5376672"/>
            <a:ext cx="137160" cy="1371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讓誤差直接出現在 loss 裡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5925312"/>
            <a:ext cx="137160" cy="13716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讓反向傳播自然把誤差「修回來」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QAT 在訓練圖裡加了什麼？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77440" y="301752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Google Sans"/>
                <a:ea typeface="Noto Sans TC"/>
              </a:rPr>
              <a:t>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3375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Google Sans"/>
                <a:ea typeface="Noto Sans TC"/>
              </a:rPr>
              <a:t>quant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554480"/>
            <a:ext cx="1371600" cy="64008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16916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Google Sans"/>
                <a:ea typeface="Noto Sans TC"/>
              </a:rPr>
              <a:t>weights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77440" y="2286000"/>
            <a:ext cx="1371600" cy="54864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77440" y="242316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C4043"/>
                </a:solidFill>
                <a:latin typeface="Google Sans"/>
                <a:ea typeface="Noto Sans TC"/>
              </a:rPr>
              <a:t>wt quant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315468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conv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60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+ bias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ReLU6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2926080"/>
            <a:ext cx="1371600" cy="8229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output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011680" y="3337560"/>
            <a:ext cx="36576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749039" y="3337560"/>
            <a:ext cx="365761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486400" y="3337560"/>
            <a:ext cx="36576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223760" y="3337560"/>
            <a:ext cx="36576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61120" y="3337560"/>
            <a:ext cx="365760" cy="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63240" y="2834640"/>
            <a:ext cx="0" cy="91440"/>
          </a:xfrm>
          <a:prstGeom prst="line">
            <a:avLst/>
          </a:prstGeom>
          <a:ln w="19050">
            <a:solidFill>
              <a:srgbClr val="BDC1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黃色節點 = 在訓練圖裡「假裝」量化的 fake quant 節點。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weights 跟 inputs 用相同 int8 表示 — 模擬 int8 MAC 運算</a:t>
            </a:r>
          </a:p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誤差會進入 loss → 反向傳播自動補償。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QAT 程式碼：tfmot 三行接管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10972800" cy="32004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691640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import tensorflow_model_optimization as tfmot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# 把現有 model 包成 quantization-aware 版本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q_aware_model = tfmot.quantization.keras.quantize_model(model)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# 重新 compile + 用少量資料 fine-tune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q_aware_model.compile(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optimizer='adam',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loss=tf.keras.losses.SparseCategoricalCrossentropy(from_logits=True),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metrics=['accuracy'])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q_aware_model.fit(x_train, y_train, epochs=1)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→ 把訓練好的 fp32 模型「複製一份」加入 fake quant 節點，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949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    繼續 fine-tune 1–3 個 epoch 通常就夠回血。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QAT 結果：準度回來了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2004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train 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692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train 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val loss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val acc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103120"/>
            <a:ext cx="32004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331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基準（FP32）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0.2724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92.44%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0.1085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10312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96.95%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926080"/>
            <a:ext cx="3200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1546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EA4335"/>
                </a:solidFill>
                <a:latin typeface="Google Sans"/>
                <a:ea typeface="Noto Sans TC"/>
              </a:rPr>
              <a:t>PTQ（int8）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0" y="3154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0" y="3154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84.10%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98080" y="3154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2926080"/>
            <a:ext cx="18288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315468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88.20%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749040"/>
            <a:ext cx="32004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9776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QAT（int8 fine-tuned）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40480" y="39776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0.1315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669280" y="39776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95.89%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0" y="39776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0.1360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26880" y="3749040"/>
            <a:ext cx="1828800" cy="8229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26880" y="39776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96.00%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→ QAT 拿回 95.89% 的準度，幾乎追平 fp32 — 只多花 1 個 epoch 的時間。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Trade-off：開發時間多 10–30 分鐘  vs.  上線後可用度提升 10%+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PTQ vs QAT — 一張表決定要走哪邊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27432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項目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4114800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PTQ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0" y="1645920"/>
            <a:ext cx="411480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0" y="1691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QAT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27432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2402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開發時間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10312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83280" y="22402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5 分鐘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0" y="210312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0" y="22402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多 1–3 個 epoch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9748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8346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是否需重訓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26974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0" y="2834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不用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69748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98080" y="28346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需要少量 fine-tune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291840"/>
            <a:ext cx="27432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4290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準度損失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29184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3429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中—大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329184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80" y="342900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88620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0233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資料需求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38862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383280" y="40233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代表性資料 100 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388620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0" y="402336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完整訓練集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480560"/>
            <a:ext cx="27432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6177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適合場景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448056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83280" y="4617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快速驗證 / 模型本就 robust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8080" y="4480560"/>
            <a:ext cx="4114800" cy="59436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98080" y="4617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上線前最後一里路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074920"/>
            <a:ext cx="27432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3C4043"/>
                </a:solidFill>
                <a:latin typeface="Google Sans"/>
                <a:ea typeface="Noto Sans TC"/>
              </a:rPr>
              <a:t>複雜度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50749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383280" y="5212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98080" y="5074920"/>
            <a:ext cx="4114800" cy="59436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498080" y="5212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中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3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3C4043"/>
                </a:solidFill>
                <a:latin typeface="Google Sans"/>
                <a:ea typeface="Noto Sans TC"/>
              </a:rPr>
              <a:t>TF vs TFLite vs TFLite Micro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三層 stack，三種角色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371600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0" y="5120640"/>
            <a:ext cx="1371600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1371600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0" y="5120640"/>
            <a:ext cx="1371600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TensorFlow 家族三兄弟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657600" cy="457200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3657600" cy="3657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TensorFlow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雲端 / 桌機 /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29260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GB 級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訓練 + 推論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GPU/TPU 加速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19" y="1737360"/>
            <a:ext cx="3657600" cy="4572000"/>
          </a:xfrm>
          <a:prstGeom prst="rect">
            <a:avLst/>
          </a:prstGeom>
          <a:solidFill>
            <a:srgbClr val="F8F9FA"/>
          </a:solidFill>
          <a:ln w="9525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19" y="1737360"/>
            <a:ext cx="3657600" cy="3657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19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TFLite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19" y="2286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手機 / RPi / Linux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108960"/>
            <a:ext cx="29260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MB 級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只做推論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CPU/NNAPI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58" y="1737360"/>
            <a:ext cx="3657600" cy="457200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58" y="1737360"/>
            <a:ext cx="3657600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58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TFLite Micro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8" y="22860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/ 嵌入式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3108960"/>
            <a:ext cx="292608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KB 級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只做推論</a:t>
            </a:r>
          </a:p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無 OS、無動態記憶體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關鍵差異：TF vs TFLite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6576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645920"/>
            <a:ext cx="365760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691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TensorFlow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645920"/>
            <a:ext cx="365760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0" y="1691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TFLite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Topology 拓樸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210312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80" y="2286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可變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210312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0" y="22860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固定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Weights 權重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274320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97680" y="2926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可變（訓練中變）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2743200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5280" y="2926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固定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38328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566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Binary Size 體積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38328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97680" y="3566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不重要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38328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55280" y="35661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高優先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023359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420623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Distributed 分散運算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80" y="4023359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420623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需要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4023359"/>
            <a:ext cx="3657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955280" y="4206239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不需要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6344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4846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3C4043"/>
                </a:solidFill>
                <a:latin typeface="Google Sans"/>
                <a:ea typeface="Noto Sans TC"/>
              </a:rPr>
              <a:t>Developer 角色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466344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80" y="4846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ML 研究者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55280" y="4663440"/>
            <a:ext cx="36576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55280" y="4846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>
                <a:solidFill>
                  <a:srgbClr val="3C4043"/>
                </a:solidFill>
                <a:latin typeface="Google Sans"/>
                <a:ea typeface="Noto Sans TC"/>
              </a:rPr>
              <a:t>應用開發者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EA4335"/>
                </a:solidFill>
                <a:latin typeface="Google Sans"/>
                <a:ea typeface="Noto Sans TC"/>
              </a:rPr>
              <a:t>為什麼 TF 不能直接跑在 MCU？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TF / PyTorch 編譯後動輒幾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只有幾百 KB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需要 Python 解譯器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跑不動 Python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依賴 OS 與虛擬記憶體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947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通常裸機或 RTOS，沒虛擬記憶體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5196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以訓練為主要目標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63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上只需要 inference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12064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數值用 fp32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沒 FPU，要 int8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選 ML 框架的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37160" cy="12801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支援訓練？  支援推論？  支援多少 op？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137160" cy="12801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BBC05"/>
                </a:solidFill>
                <a:latin typeface="Google Sans"/>
                <a:ea typeface="Noto Sans TC"/>
              </a:rPr>
              <a:t>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2044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需要量化工具？  能依賴 virtual memory？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137160" cy="12801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9377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支援多少種處理器？  支援多少平台？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</a:rPr>
              <a:t>→ 對我們而言，這個答案就是 TFLite Micro + Edge Impulse。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4285F4"/>
                </a:solidFill>
                <a:latin typeface="Google Sans"/>
                <a:ea typeface="Noto Sans TC"/>
              </a:rPr>
              <a:t>4 /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200" b="1" i="0">
                <a:solidFill>
                  <a:srgbClr val="3C4043"/>
                </a:solidFill>
                <a:latin typeface="Google Sans"/>
                <a:ea typeface="Noto Sans TC"/>
              </a:rPr>
              <a:t>把模型塞進硬體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5F6368"/>
                </a:solidFill>
                <a:latin typeface="Google Sans"/>
                <a:ea typeface="Noto Sans TC"/>
              </a:rPr>
              <a:t>Embedded Systems：Pico 2 W + MPU6050 實戰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120640"/>
            <a:ext cx="1371600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0" y="5120640"/>
            <a:ext cx="1371600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5120640"/>
            <a:ext cx="1371600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0720" y="5120640"/>
            <a:ext cx="1371600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嵌入式系統的三件事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657600" cy="39319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4285F4"/>
                </a:solidFill>
                <a:latin typeface="Google Sans"/>
                <a:ea typeface="Noto Sans TC"/>
              </a:rPr>
              <a:t>Sense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感測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Microphone, IMU, Temperature, Camera, ADC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19" y="1737360"/>
            <a:ext cx="3657600" cy="39319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19" y="20116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BBC05"/>
                </a:solidFill>
                <a:latin typeface="Google Sans"/>
                <a:ea typeface="Noto Sans TC"/>
              </a:rPr>
              <a:t>Process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743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處理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374904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MCU / DSP / NPU 內部運算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8" y="1737360"/>
            <a:ext cx="3657600" cy="393192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58" y="201168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34A853"/>
                </a:solidFill>
                <a:latin typeface="Google Sans"/>
                <a:ea typeface="Noto Sans TC"/>
              </a:rPr>
              <a:t>Actuate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8" y="274320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致動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8" y="374904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LED, Display, Motor, Speaker,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輸入是類比 → 處理是數位 → 輸出再變回類比。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拆解一台 TinyML 裝置 (1／4)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用 Pico 2 W 取代教材原本的 Echo Dot，一塊一塊堆上去。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7432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oogle Sans"/>
                <a:ea typeface="Noto Sans TC"/>
              </a:rPr>
              <a:t>RP2350 + Wi-Fi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38912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Google Sans"/>
                <a:ea typeface="Noto Sans TC"/>
              </a:rPr>
              <a:t>Dual Cortex-M33, 520 KB SRAM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拆解一台 TinyML 裝置 (2／4)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0" y="27432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oogle Sans"/>
                <a:ea typeface="Noto Sans TC"/>
              </a:rPr>
              <a:t>處理器 + Wi-Fi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MPU6050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4048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6 軸 IMU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3C4043"/>
                </a:solidFill>
                <a:latin typeface="Google Sans"/>
                <a:ea typeface="Noto Sans TC"/>
              </a:rPr>
              <a:t>加速度 + 陀螺儀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83280" y="33832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4A853"/>
                </a:solidFill>
                <a:latin typeface="Google Sans"/>
                <a:ea typeface="Noto Sans TC"/>
              </a:rPr>
              <a:t>I2C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MPU6050 透過 I2C 接 Pico，加上動作偵測能力。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拆解一台 TinyML 裝置 (3／4)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0" y="27432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oogle Sans"/>
                <a:ea typeface="Noto Sans TC"/>
              </a:rPr>
              <a:t>處理器 + Wi-Fi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MPU6050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IMU 動作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38328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0392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3291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DHT22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</a:rPr>
              <a:t>溫度 + 濕度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0" y="338328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34A853"/>
                </a:solidFill>
                <a:latin typeface="Google Sans"/>
                <a:ea typeface="Noto Sans TC"/>
              </a:rPr>
              <a:t>1-wire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拆解一台 TinyML 裝置 (4／4)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0" y="2743200"/>
            <a:ext cx="3657600" cy="22860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329184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3931920"/>
            <a:ext cx="3657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Google Sans"/>
                <a:ea typeface="Noto Sans TC"/>
              </a:rPr>
              <a:t>處理器 + Wi-Fi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3C4043"/>
                </a:solidFill>
                <a:latin typeface="Google Sans"/>
                <a:ea typeface="Noto Sans TC"/>
              </a:rPr>
              <a:t>MPU6050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IMU 動作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3017520"/>
            <a:ext cx="2743200" cy="164592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32918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oogle Sans"/>
                <a:ea typeface="Noto Sans TC"/>
              </a:rPr>
              <a:t>DHT22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9319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</a:rPr>
              <a:t>溫度 + 濕度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3035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USB / GPIO 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60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</a:rPr>
              <a:t>輸出 + 燒錄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20" y="5029200"/>
            <a:ext cx="2743200" cy="137160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0" y="53035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oogle Sans"/>
                <a:ea typeface="Noto Sans TC"/>
              </a:rPr>
              <a:t>Wi-Fi MQTT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5760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Google Sans"/>
                <a:ea typeface="Noto Sans TC"/>
              </a:rPr>
              <a:t>推論結果回雲端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38328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772400" y="3840480"/>
            <a:ext cx="731520" cy="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011680" y="4663440"/>
            <a:ext cx="0" cy="36576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875520" y="4663440"/>
            <a:ext cx="0" cy="365760"/>
          </a:xfrm>
          <a:prstGeom prst="line">
            <a:avLst/>
          </a:prstGeom>
          <a:ln w="38100">
            <a:solidFill>
              <a:srgbClr val="34A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新尖兵班這學期的實作硬體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10972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3716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874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Raspberry Pi Pico 2 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RP2350 雙核 M33 / 520 KB SRAM / 2 MB Flash / Wi-Fi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137160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926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Arduino Nano / Uno R4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備用 / TFLite Micro 範例最完整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10972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840480"/>
            <a:ext cx="137160" cy="914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9776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MPU6050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6 軸 IMU（加速度 + 陀螺儀）— 動作分類首選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92040"/>
            <a:ext cx="10972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4892040"/>
            <a:ext cx="137160" cy="914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3C4043"/>
                </a:solidFill>
                <a:latin typeface="Google Sans"/>
                <a:ea typeface="Noto Sans TC"/>
              </a:rPr>
              <a:t>USB Type-C 線 + 麵包板 + 杜邦線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課程材料包含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ARM Cortex-M 階梯：能力越多越貴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210312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核心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45920"/>
            <a:ext cx="256032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0" y="169164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適用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HW Divide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DSP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645920"/>
            <a:ext cx="22860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6916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FPU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103120"/>
            <a:ext cx="210312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286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M0 / M0+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2103120"/>
            <a:ext cx="256032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0" y="228600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I/O 控制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2103120"/>
            <a:ext cx="18288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0" y="2286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2103120"/>
            <a:ext cx="18288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2286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0" y="2103120"/>
            <a:ext cx="2286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0" y="228600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743200"/>
            <a:ext cx="210312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29260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2743200"/>
            <a:ext cx="256032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0" y="292608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一般運算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0" y="2743200"/>
            <a:ext cx="18288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0" y="2926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HWDIV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743200"/>
            <a:ext cx="18288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0" y="292608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0" y="2743200"/>
            <a:ext cx="2286000" cy="64008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0" y="29260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383280"/>
            <a:ext cx="210312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383280"/>
            <a:ext cx="256032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743200" y="35661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進階運算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303520" y="3383280"/>
            <a:ext cx="182880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303520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HWDIV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3383280"/>
            <a:ext cx="182880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132320" y="356616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DSP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3383280"/>
            <a:ext cx="2286000" cy="640080"/>
          </a:xfrm>
          <a:prstGeom prst="rect">
            <a:avLst/>
          </a:prstGeom>
          <a:solidFill>
            <a:srgbClr val="FBBC05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961120" y="3566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FPU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023359"/>
            <a:ext cx="210312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4206239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M33 (Pico 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0" y="4023359"/>
            <a:ext cx="256032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43200" y="4206239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安全 + DSP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03520" y="4023359"/>
            <a:ext cx="182880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303520" y="420623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HWDIV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4023359"/>
            <a:ext cx="182880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32320" y="4206239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DSP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4023359"/>
            <a:ext cx="2286000" cy="640080"/>
          </a:xfrm>
          <a:prstGeom prst="rect">
            <a:avLst/>
          </a:prstGeom>
          <a:solidFill>
            <a:srgbClr val="34A853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61120" y="4206239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FPU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" y="4663440"/>
            <a:ext cx="210312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48463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C4043"/>
                </a:solidFill>
                <a:latin typeface="Google Sans"/>
                <a:ea typeface="Noto Sans TC"/>
              </a:rPr>
              <a:t>M7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0" y="4663440"/>
            <a:ext cx="256032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43200" y="48463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高效運算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303520" y="4663440"/>
            <a:ext cx="182880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03520" y="4846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HWDIV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4663440"/>
            <a:ext cx="182880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132320" y="484632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DSP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61120" y="4663440"/>
            <a:ext cx="2286000" cy="640080"/>
          </a:xfrm>
          <a:prstGeom prst="rect">
            <a:avLst/>
          </a:prstGeom>
          <a:solidFill>
            <a:srgbClr val="4285F4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961120" y="4846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FPU+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4285F4"/>
                </a:solidFill>
                <a:latin typeface="Google Sans"/>
                <a:ea typeface="Noto Sans TC"/>
              </a:rPr>
              <a:t>→ TinyML 模型需要 DSP + FPU 才跑得順 → 至少 M4 以上。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I2C：MPU6050 接 Pico 的關鍵協定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</a:rPr>
              <a:t>協定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1645920"/>
            <a:ext cx="6400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6916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</a:rPr>
              <a:t>特性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0" y="1645920"/>
            <a:ext cx="32004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0" y="16916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Google Sans"/>
                <a:ea typeface="Noto Sans TC"/>
              </a:rPr>
              <a:t>常見用途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1828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377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4285F4"/>
                </a:solidFill>
                <a:latin typeface="Google Sans"/>
                <a:ea typeface="Noto Sans TC"/>
              </a:rPr>
              <a:t>UART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103120"/>
            <a:ext cx="6400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0" y="23774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非同步、無共用時脈、慢、佈線簡單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2103120"/>
            <a:ext cx="32004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23774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Serial Console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01752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I2C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3017520"/>
            <a:ext cx="6400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32918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共用時脈、中速、雙向但一次一個、佈線簡單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3017520"/>
            <a:ext cx="32004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0" y="32918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MPU6050、OLED、感測器陣列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931920"/>
            <a:ext cx="1828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42062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BBC05"/>
                </a:solidFill>
                <a:latin typeface="Google Sans"/>
                <a:ea typeface="Noto Sans TC"/>
              </a:rPr>
              <a:t>SPI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3931920"/>
            <a:ext cx="64008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68880" y="420624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共用時脈、快、全雙工、佈線複雜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3931920"/>
            <a:ext cx="3200400" cy="91440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69680" y="42062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SD 卡、LCD、外部 Flash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MPU6050 預設 I2C 位址：0x68（AD0 接地）／0x69（AD0 拉高）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I2C 一次傳輸長什麼樣子？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2926080"/>
            <a:ext cx="1188720" cy="914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START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5376" y="2926080"/>
            <a:ext cx="118872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65376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ADDRESS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90672" y="2926080"/>
            <a:ext cx="1188720" cy="9144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0672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R/W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2926080"/>
            <a:ext cx="1188720" cy="914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41264" y="2926080"/>
            <a:ext cx="118872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541264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926080"/>
            <a:ext cx="1188720" cy="914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2926080"/>
            <a:ext cx="1188720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91856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17152" y="2926080"/>
            <a:ext cx="1188720" cy="914400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2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2448" y="2926080"/>
            <a:ext cx="1188720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42448" y="3200400"/>
            <a:ext cx="1188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Google Sans"/>
                <a:ea typeface="Noto Sans TC"/>
              </a:rPr>
              <a:t>STOP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Start → 位址 → 讀/寫 → 對方 ACK → 一次傳一個 byte → STOP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5488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在 MicroPython 上你只會寫：</a:t>
            </a:r>
          </a:p>
          <a:p>
            <a:pPr algn="l"/>
            <a:endParaRPr sz="1400" b="0" i="0">
              <a:solidFill>
                <a:srgbClr val="5F6368"/>
              </a:solidFill>
              <a:latin typeface="Google Sans"/>
              <a:ea typeface="Noto Sans TC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40080" y="5029200"/>
            <a:ext cx="10972800" cy="13716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5166360"/>
            <a:ext cx="106070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from machine import I2C, Pin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i2c = I2C(0, scl=Pin(5), sda=Pin(4), freq=400_000)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i2c.writeto_mem(0x68, 0x6B, b'\x00')   # 喚醒 MPU6050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嵌入式 ML 軟體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5F6368"/>
                </a:solidFill>
                <a:latin typeface="Google Sans"/>
                <a:ea typeface="Noto Sans TC"/>
              </a:rPr>
              <a:t>一般 PC / 雲端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Keras / PyTorch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Python 解譯器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OS (Linux/Win/Mac)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6344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CPU / GPU / TPU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6459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34A853"/>
                </a:solidFill>
                <a:latin typeface="Google Sans"/>
                <a:ea typeface="Noto Sans TC"/>
              </a:rPr>
              <a:t>TinyML / MCU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237744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你的 main.cpp / .ino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1752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320040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TFLite Micro (C++)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84048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402336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Mbed OS / Arduino / 裸機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663440"/>
            <a:ext cx="5303520" cy="731520"/>
          </a:xfrm>
          <a:prstGeom prst="rect">
            <a:avLst/>
          </a:prstGeom>
          <a:solidFill>
            <a:srgbClr val="F8F9FA"/>
          </a:solidFill>
          <a:ln w="9525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0" y="4846320"/>
            <a:ext cx="5303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3C4043"/>
                </a:solidFill>
                <a:latin typeface="Google Sans"/>
                <a:ea typeface="Noto Sans TC"/>
              </a:rPr>
              <a:t>Cortex-M (無 FPU 或弱 FPU)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→ 沒有 Python、沒有 OS、沒有虛擬記憶體 — 一切自己來。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從 PC 訓練到 MCU 推論的完整流程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0088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0887" y="352044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收集資料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6392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536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55367" y="352044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訓練模型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Keras / PyTorch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71840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0984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09847" y="352044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量化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PTQ 或 QAT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7288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36432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FBBC05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64327" y="352044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轉成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.tflite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2736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91880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18807" y="352044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轉成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C 陣列 (.h)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8184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47328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3287" y="352044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Arduino IDE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+ TFLite Micro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936327" y="3931920"/>
            <a:ext cx="9144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027767" y="3200400"/>
            <a:ext cx="1463040" cy="1463040"/>
          </a:xfrm>
          <a:prstGeom prst="roundRect">
            <a:avLst>
              <a:gd name="adj" fmla="val 12000"/>
            </a:avLst>
          </a:prstGeom>
          <a:solidFill>
            <a:srgbClr val="EA4335"/>
          </a:solidFill>
          <a:ln w="12700">
            <a:solidFill>
              <a:srgbClr val="EA4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27767" y="3520440"/>
            <a:ext cx="14630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燒錄到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Pico 2 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i="1">
                <a:solidFill>
                  <a:srgbClr val="5F6368"/>
                </a:solidFill>
                <a:latin typeface="Google Sans"/>
                <a:ea typeface="Noto Sans TC"/>
              </a:rPr>
              <a:t>前 4 步在電腦 — 後 3 步在硬體。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1">
                <a:solidFill>
                  <a:srgbClr val="4285F4"/>
                </a:solidFill>
                <a:latin typeface="Google Sans"/>
                <a:ea typeface="Noto Sans TC"/>
              </a:rPr>
              <a:t>Edge Impulse 把整條 pipeline 整合成一個 web 介面，按鈕按一按就出 .ino。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在 MCU 上做一次推論長什麼樣子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以動作分類（left-right / up-down / circle / idle）為例：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94560"/>
            <a:ext cx="2377440" cy="5943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3317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Timer / DMA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3172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每 16 ms (62.5 Hz) 讀一次 MPU6050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852928"/>
            <a:ext cx="2377440" cy="5943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9008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Raw 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90088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塞滿 2 秒 → 3 × 125 = 375 個原始值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11296"/>
            <a:ext cx="2377440" cy="5943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648456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特徵抽取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648456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RMS + Power Spectral Density → 33 個特徵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9664"/>
            <a:ext cx="2377440" cy="59436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306824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306824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DNN / CNN 吃 33 個特徵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828032"/>
            <a:ext cx="2377440" cy="5943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965192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輸出機率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65192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P(left-right), P(up-down), P(circle), P(idle)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486400"/>
            <a:ext cx="2377440" cy="5943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562356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6235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3C4043"/>
                </a:solidFill>
                <a:latin typeface="Google Sans"/>
                <a:ea typeface="Noto Sans TC"/>
              </a:rPr>
              <a:t>if P(circle) &gt; 0.8: trigger something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推論結果怎麼用：判斷分支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00" cy="32004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783080"/>
            <a:ext cx="1060704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// 假設推論完成後拿到 4 個機率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if (p_left_right &gt; 0.5) {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// 觸發左右動作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}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if (p_up_down &gt; 0.5) {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// 觸發上下動作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}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if (p_circle &gt; 0.8) {  // 圓圈手勢更嚴格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    digitalWrite(LED_PIN, HIGH);</a:t>
            </a:r>
          </a:p>
          <a:p>
            <a:pPr algn="l"/>
            <a:r>
              <a:rPr sz="1400" b="0" i="0">
                <a:solidFill>
                  <a:srgbClr val="E8EAED"/>
                </a:solidFill>
                <a:latin typeface="Fira Code"/>
                <a:ea typeface="Fira Code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4285F4"/>
                </a:solidFill>
                <a:latin typeface="Google Sans"/>
                <a:ea typeface="Noto Sans TC"/>
              </a:rPr>
              <a:t>重點：不同類別可以設不同 threshold，依「誤判成本」調整。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嵌入式 ML 框架比一比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27432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框架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出處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645920"/>
            <a:ext cx="13716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16916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語言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45920"/>
            <a:ext cx="18288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6916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活躍度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1645920"/>
            <a:ext cx="3200400" cy="4572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Google Sans"/>
                <a:ea typeface="Noto Sans TC"/>
              </a:rPr>
              <a:t>支援硬體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103120"/>
            <a:ext cx="27432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33172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34A853"/>
                </a:solidFill>
                <a:latin typeface="Google Sans"/>
                <a:ea typeface="Noto Sans TC"/>
              </a:rPr>
              <a:t>TensorFlow Lite Micro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103120"/>
            <a:ext cx="18288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832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Google 官方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2103120"/>
            <a:ext cx="13716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212080" y="23317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C++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103120"/>
            <a:ext cx="18288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0" y="2103120"/>
            <a:ext cx="32004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0" y="2331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Arduino / Mbed / ESP32 / Pico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288036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4285F4"/>
                </a:solidFill>
                <a:latin typeface="Google Sans"/>
                <a:ea typeface="Noto Sans TC"/>
              </a:rPr>
              <a:t>Edge Impulse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88036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0" y="3108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Web GUI + SDK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288036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212080" y="310896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C++ wrap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88036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310896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極高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880360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12480" y="310896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幾乎所有 MCU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657600"/>
            <a:ext cx="27432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88620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BBC05"/>
                </a:solidFill>
                <a:latin typeface="Google Sans"/>
                <a:ea typeface="Noto Sans TC"/>
              </a:rPr>
              <a:t>STM32Cube.AI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80" y="3657600"/>
            <a:ext cx="18288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8328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ST 官方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12080" y="3657600"/>
            <a:ext cx="13716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212080" y="38862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C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0" y="3657600"/>
            <a:ext cx="18288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583680" y="388620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中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3657600"/>
            <a:ext cx="3200400" cy="777240"/>
          </a:xfrm>
          <a:prstGeom prst="rect">
            <a:avLst/>
          </a:prstGeom>
          <a:solidFill>
            <a:srgbClr val="F8F9FA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412480" y="38862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只支援 STM32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434840"/>
            <a:ext cx="27432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0080" y="46634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5F6368"/>
                </a:solidFill>
                <a:latin typeface="Google Sans"/>
                <a:ea typeface="Noto Sans TC"/>
              </a:rPr>
              <a:t>uTensor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80" y="443484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83280" y="4663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社群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12080" y="4434840"/>
            <a:ext cx="1371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212080" y="46634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C++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0" y="4434840"/>
            <a:ext cx="18288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83680" y="466344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低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4434840"/>
            <a:ext cx="3200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412480" y="466344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3C4043"/>
                </a:solidFill>
                <a:latin typeface="Google Sans"/>
                <a:ea typeface="Noto Sans TC"/>
              </a:rPr>
              <a:t>Mbed 為主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285F4"/>
                </a:solidFill>
                <a:latin typeface="Google Sans"/>
                <a:ea typeface="Noto Sans TC"/>
              </a:rPr>
              <a:t>→ 我們的課用 Edge Impulse 訓練 + TFLite Micro 部署，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4285F4"/>
                </a:solidFill>
                <a:latin typeface="Google Sans"/>
                <a:ea typeface="Noto Sans TC"/>
              </a:rPr>
              <a:t>    Pico 2 W 用 arduino-pico core 接 TFLM。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兩種框架部署同一個模型，資源差多少？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模型：3 層 dense / 321 參數 / 沒量化  —  跑同一個 STM32L4：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5303520" cy="36576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530352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框架 A（Closed Source）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27 KB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RAM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0233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5 KB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推論時間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8463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77 µs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377440"/>
            <a:ext cx="5303520" cy="365760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26480" y="2377440"/>
            <a:ext cx="530352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246888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框架 B（Open Source）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0040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20040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50 KB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02336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4.7 KB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46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F6368"/>
                </a:solidFill>
                <a:latin typeface="Google Sans"/>
                <a:ea typeface="Noto Sans TC"/>
              </a:rPr>
              <a:t>推論時間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8463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104 µs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3C4043"/>
                </a:solidFill>
                <a:latin typeface="Google Sans"/>
                <a:ea typeface="Noto Sans TC"/>
              </a:rPr>
              <a:t>→ 同樣模型，不同框架可以差 2 倍體積、35% 速度。框架選擇值得花時間 benchmark。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選框架的三個維度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137160" cy="12801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硬體與 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compute 上限、memory 限制、開發環境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FBBC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137160" cy="12801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BBC05"/>
                </a:solidFill>
                <a:latin typeface="Google Sans"/>
                <a:ea typeface="Noto Sans TC"/>
              </a:rPr>
              <a:t>訓練 / 嵌入式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訓練端框架、嵌入端框架，要能互轉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7200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4572000"/>
            <a:ext cx="137160" cy="12801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34A853"/>
                </a:solidFill>
                <a:latin typeface="Google Sans"/>
                <a:ea typeface="Noto Sans TC"/>
              </a:rPr>
              <a:t>其它現實面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3C4043"/>
                </a:solidFill>
                <a:latin typeface="Google Sans"/>
                <a:ea typeface="Noto Sans TC"/>
              </a:rPr>
              <a:t>文件完整度、範例多寡、個人經驗、社群活躍度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→ 沒有絕對最佳，只有「最適合你這次任務的」框架。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整個 ML Workflow，部署這段在哪？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收集</a:t>
            </a:r>
          </a:p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資料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8308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2880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前處理</a:t>
            </a:r>
          </a:p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資料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6324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0896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設計</a:t>
            </a:r>
          </a:p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模型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4340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訓練</a:t>
            </a:r>
          </a:p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模型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2356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66928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F8F9FA"/>
          </a:solidFill>
          <a:ln w="12700">
            <a:solidFill>
              <a:srgbClr val="BDC1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3C4043"/>
                </a:solidFill>
                <a:latin typeface="Google Sans"/>
                <a:ea typeface="Noto Sans TC"/>
              </a:rPr>
              <a:t>評估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0372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4944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4944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最佳化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8388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2960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60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轉換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模型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6404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50976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976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部署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模型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744200" y="3383280"/>
            <a:ext cx="45720" cy="0"/>
          </a:xfrm>
          <a:prstGeom prst="line">
            <a:avLst/>
          </a:prstGeom>
          <a:ln w="19050">
            <a:solidFill>
              <a:srgbClr val="3C40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789920" y="2743200"/>
            <a:ext cx="1234440" cy="1280160"/>
          </a:xfrm>
          <a:prstGeom prst="roundRect">
            <a:avLst>
              <a:gd name="adj" fmla="val 12000"/>
            </a:avLst>
          </a:prstGeom>
          <a:solidFill>
            <a:srgbClr val="34A853"/>
          </a:solidFill>
          <a:ln w="12700">
            <a:solidFill>
              <a:srgbClr val="3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789920" y="3063240"/>
            <a:ext cx="1234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Google Sans"/>
                <a:ea typeface="Noto Sans TC"/>
              </a:rPr>
              <a:t>推論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5720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34A853"/>
                </a:solidFill>
                <a:latin typeface="Google Sans"/>
                <a:ea typeface="Noto Sans TC"/>
              </a:rPr>
              <a:t>綠色這段，就是 Module 4 的範圍 — 從一個訓練好的模型，到能在 Pico 2 W 上跑。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368"/>
                </a:solidFill>
                <a:latin typeface="Google Sans"/>
                <a:ea typeface="Noto Sans TC"/>
              </a:rPr>
              <a:t>前面是 Module 3 — 後面是 Module 5 應用實戰。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Your turn ─ 課堂任務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你拿到一塊 Pico 2 W、一顆 MPU6050、四條杜邦線。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60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在 Edge Impulse 上錄 3 種手勢資料，每種 30 秒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461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訓練一個小 DNN，跑 PTQ 看準度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準度不夠？  改用 QAT 再試一次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526280"/>
            <a:ext cx="548640" cy="54864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5720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177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匯出 Arduino library，燒進 Pico 2 W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212080"/>
            <a:ext cx="548640" cy="54864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oogle Sans"/>
                <a:ea typeface="Noto Sans T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03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用手勢點亮 LED，錄一段 demo 影片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EA4335"/>
                </a:solidFill>
                <a:latin typeface="Google Sans"/>
                <a:ea typeface="Noto Sans TC"/>
              </a:rPr>
              <a:t>常見地雷與排除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模型量化後完全亂猜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代表性資料太少或不夠多樣，補資料再 PTQ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Compile 過了但 MCU 卡住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971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Tensor arena 不夠大，把 kTensorArenaSize 加大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4747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MPU6050 讀回來都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862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I2C 位址寫錯（0x68 vs 0x69）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891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WiFi 一啟動模型就跑不動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00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Pico 2 W 的記憶體在 WiFi 連線後吃掉 80 KB，提早 allocate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03520"/>
            <a:ext cx="109728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3C4043"/>
                </a:solidFill>
                <a:latin typeface="Google Sans"/>
                <a:ea typeface="Noto Sans TC"/>
              </a:rPr>
              <a:t>推論很慢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15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確認用了 int8、確認用 CMSIS-NN kernel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In Summary ... (1／3) 量化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993392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量化 = 把 float32 壓成 int8 — 模型小 4 倍、速度快 2–4 倍。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9232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PTQ：訓練後量化，5 行程式碼，可能掉準度。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05072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QAT：量化感知訓練，要 fine-tune，準度損失最小。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10912"/>
            <a:ext cx="182880" cy="182880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工作流：先試 PTQ → 不夠用再上 QAT。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In Summary ... (2／3) 框架與硬體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993392"/>
            <a:ext cx="182880" cy="1828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TF (訓練) → TFLite (手機) → TFLite Micro (MCU)。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9232"/>
            <a:ext cx="182880" cy="1828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MCU 沒 Python、沒 OS、沒虛擬記憶體 — 一切要靜態配置。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05072"/>
            <a:ext cx="182880" cy="1828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Cortex-M 階梯：M0 最簡單、M4/M33/M7 才適合 TinyML。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10912"/>
            <a:ext cx="182880" cy="182880"/>
          </a:xfrm>
          <a:prstGeom prst="ellipse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通訊協定：UART 慢、I2C 中速好接、SPI 快但複雜。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3C4043"/>
                </a:solidFill>
                <a:latin typeface="Google Sans"/>
                <a:ea typeface="Noto Sans TC"/>
              </a:rPr>
              <a:t>In Summary ... (3／3) 工程現實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548640" cy="5486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115568" y="1051560"/>
            <a:ext cx="548640" cy="54864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5" y="1051560"/>
            <a:ext cx="548640" cy="54864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49424" y="1051560"/>
            <a:ext cx="548640" cy="54864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993392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288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MCU vs MPU 在運算、記憶體、儲存、功耗差 10× ~ 100,000×。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999232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8346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Not all embedded systems are created equal — 取捨無可避免。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005072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硬體選對、框架選對、量化做對 — TinyML 就跑得起來。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010912"/>
            <a:ext cx="182880" cy="18288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3C4043"/>
                </a:solidFill>
                <a:latin typeface="Google Sans"/>
                <a:ea typeface="Noto Sans TC"/>
              </a:rPr>
              <a:t>下個任務：把你的模型塞進 Pico 2 W，讓它真的動起來。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C4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1" i="1">
                <a:solidFill>
                  <a:srgbClr val="FFFFFF"/>
                </a:solidFill>
                <a:latin typeface="Google Sans"/>
                <a:ea typeface="Noto Sans TC"/>
              </a:rPr>
              <a:t>"Not all embedded systems are created equal."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29184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0" i="0">
                <a:solidFill>
                  <a:srgbClr val="FBBC05"/>
                </a:solidFill>
                <a:latin typeface="Google Sans"/>
                <a:ea typeface="Noto Sans TC"/>
              </a:rPr>
              <a:t>「並非所有嵌入式系統都生而平等。」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1">
                <a:solidFill>
                  <a:srgbClr val="BDC1C6"/>
                </a:solidFill>
                <a:latin typeface="Google Sans"/>
                <a:ea typeface="Noto Sans TC"/>
              </a:rPr>
              <a:t>在 TinyML，犧牲跨硬體可攜性換取效率，是常態。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3047695" cy="2743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47695" y="6583680"/>
            <a:ext cx="3047695" cy="27432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5390" y="6583680"/>
            <a:ext cx="3047695" cy="27432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3085" y="6583680"/>
            <a:ext cx="3047695" cy="27432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3C4043"/>
                </a:solidFill>
                <a:latin typeface="Google Sans"/>
                <a:ea typeface="Noto Sans TC"/>
              </a:rPr>
              <a:t>Module 4 結束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4285F4"/>
                </a:solidFill>
                <a:latin typeface="Google Sans"/>
                <a:ea typeface="Noto Sans TC"/>
              </a:rPr>
              <a:t>下一站 → Module 5：應用實戰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你會把 PTQ / QAT、TFLite Micro、Pico 2 W 全部組起來，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66344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3C4043"/>
                </a:solidFill>
                <a:latin typeface="Google Sans"/>
                <a:ea typeface="Noto Sans TC"/>
              </a:rPr>
              <a:t>做一個真正能上線的 TinyML 小專案。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4285F4"/>
                </a:solidFill>
                <a:latin typeface="Google Sans"/>
                <a:ea typeface="Noto Sans TC"/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F6368"/>
                </a:solidFill>
                <a:latin typeface="Google Sans"/>
                <a:ea typeface="Noto Sans TC"/>
              </a:rPr>
              <a:t>講師：Harry / 蘇泓舉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2621</Words>
  <Application>Microsoft Office PowerPoint</Application>
  <PresentationFormat>寬螢幕</PresentationFormat>
  <Paragraphs>626</Paragraphs>
  <Slides>57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57</vt:i4>
      </vt:variant>
    </vt:vector>
  </HeadingPairs>
  <TitlesOfParts>
    <vt:vector size="62" baseType="lpstr">
      <vt:lpstr>Fira Code</vt:lpstr>
      <vt:lpstr>Google Sans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泓舉</cp:lastModifiedBy>
  <cp:revision>2</cp:revision>
  <dcterms:created xsi:type="dcterms:W3CDTF">2013-01-27T09:14:16Z</dcterms:created>
  <dcterms:modified xsi:type="dcterms:W3CDTF">2026-06-26T13:39:07Z</dcterms:modified>
  <cp:category/>
</cp:coreProperties>
</file>