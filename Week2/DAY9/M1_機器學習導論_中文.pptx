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44952" y="0"/>
            <a:ext cx="3044952" cy="16459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89904" y="0"/>
            <a:ext cx="3044952" cy="164592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3044952" cy="16459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機器學習 × TinyML</a:t>
            </a:r>
          </a:p>
          <a:p>
            <a:pPr algn="l"/>
            <a:r>
              <a:rPr sz="4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從雲端走進口袋的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Introduction to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講師：Harry / 蘇泓舉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AI </a:t>
            </a:r>
            <a:r>
              <a:rPr sz="1400" b="0" i="0" dirty="0" err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應用開發班</a:t>
            </a:r>
            <a:endParaRPr sz="1400" b="0" i="0" dirty="0">
              <a:solidFill>
                <a:srgbClr val="5F6368"/>
              </a:solidFill>
              <a:latin typeface="Google Sans"/>
              <a:ea typeface="Noto Sans TC"/>
              <a:cs typeface="Noto Sans T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這堂課要做什麼？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三句話講完整個 Module 1：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4231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搞懂 AI / ML / DL 到底是什麼，跟你寫過的 Python 差在哪。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3375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看 AI 怎麼從雲端機房縮小，塞進一顆鈕扣電池裡。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51959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動手做 AI 之前先想：我在幫誰做？做壞了會傷到誰？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你需要會的：基本 Python（會寫 for / if / def 即可）。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1 — What is ML?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AI、ML、DL 到底差在哪？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先把名詞搞清楚，再來談技術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為什麼大家都在談 AI？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73152" cy="3200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1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「AI 在 5 年內會改變所有產業的工作方式，</a:t>
            </a:r>
          </a:p>
          <a:p>
            <a:pPr algn="l"/>
            <a:r>
              <a:rPr sz="3200" b="1" i="1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台灣不能在這一波缺席。」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— 張善政（前行政院副院長、Google 前亞太區硬體營運總監）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重點不是「AI 很厲害」，而是「你會不會用」。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是什麼？先從人類智慧講起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人類智慧（Human Intelligence）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解決問題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201168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達成目標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01168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分析推理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溝通協作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283464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情感直覺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834640"/>
            <a:ext cx="1508760" cy="594360"/>
          </a:xfrm>
          <a:prstGeom prst="roundRect">
            <a:avLst>
              <a:gd name="adj" fmla="val 40000"/>
            </a:avLst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想像力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5120640" cy="141732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人工智慧（AI）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5212080" cy="34747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AI（人工智慧）</a:t>
            </a:r>
          </a:p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讓機器去模擬、甚至放大</a:t>
            </a:r>
          </a:p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上述其中幾項能力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課本定義：感知環境訊號、做出回應動作的智慧代理人。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⊃ 機器學習 ⊃ 深度學習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554480"/>
            <a:ext cx="6400800" cy="4572000"/>
          </a:xfrm>
          <a:prstGeom prst="rect">
            <a:avLst/>
          </a:prstGeom>
          <a:noFill/>
          <a:ln w="254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6916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Artificial Intelligence — AI 人工智慧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2377440"/>
            <a:ext cx="5029200" cy="3291840"/>
          </a:xfrm>
          <a:prstGeom prst="rect">
            <a:avLst/>
          </a:prstGeom>
          <a:noFill/>
          <a:ln w="254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25146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Machine Learning — 機器學習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108960"/>
            <a:ext cx="3840480" cy="21945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365760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Deep Learning</a:t>
            </a:r>
          </a:p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深度學習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一句話記住：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46888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AI：讓機器有人的智慧</a:t>
            </a:r>
          </a:p>
          <a:p>
            <a:pPr algn="l"/>
            <a:endParaRPr sz="1600" b="0" i="0">
              <a:solidFill>
                <a:srgbClr val="3C4043"/>
              </a:solidFill>
              <a:latin typeface="Google Sans"/>
              <a:ea typeface="Noto Sans TC"/>
              <a:cs typeface="Noto Sans TC"/>
            </a:endParaRP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ML：用「資料」教機器，不用寫死規則</a:t>
            </a:r>
          </a:p>
          <a:p>
            <a:pPr algn="l"/>
            <a:endParaRPr sz="1600" b="0" i="0">
              <a:solidFill>
                <a:srgbClr val="3C4043"/>
              </a:solidFill>
              <a:latin typeface="Google Sans"/>
              <a:ea typeface="Noto Sans TC"/>
              <a:cs typeface="Noto Sans TC"/>
            </a:endParaRP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DL：用「神經網路」做的 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不是新東西，已經紅了一甲子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640080" y="2926080"/>
            <a:ext cx="1106424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1943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3246120"/>
            <a:ext cx="1280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第一個人工神經元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830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1958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246120"/>
            <a:ext cx="1280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感知器 Perceptron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1969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46120"/>
            <a:ext cx="1280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反向傳播算法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1985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46120"/>
            <a:ext cx="1280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反向傳播再度被重視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1996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246120"/>
            <a:ext cx="1280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深藍打敗西洋棋世界冠軍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2012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246120"/>
            <a:ext cx="1280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AlexNet 拿下 ImageNet 冠軍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46120"/>
            <a:ext cx="1280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Transformer 論文發表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2724912"/>
            <a:ext cx="822960" cy="4114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246120"/>
            <a:ext cx="1280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ChatGPT 上線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1430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那為什麼是現在才爆紅？答案在下一頁。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這波爆發的 4 大推手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69748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697480" cy="3291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資料量</a:t>
            </a:r>
          </a:p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手機、IoT、攝影機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每天產出爆量資料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828800"/>
            <a:ext cx="2697480" cy="4572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8745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286000"/>
            <a:ext cx="2697480" cy="3291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46888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演算法</a:t>
            </a:r>
          </a:p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74904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Transformer、Diffusion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論文一篇接一篇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828800"/>
            <a:ext cx="2697480" cy="4572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39" y="18745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2286000"/>
            <a:ext cx="2697480" cy="3291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39" y="246888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算力</a:t>
            </a:r>
          </a:p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374904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GPU、TPU 越來越強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推論成本一直降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19" y="1828800"/>
            <a:ext cx="269748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599" y="18745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19" y="2286000"/>
            <a:ext cx="2697480" cy="32918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599" y="246888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公眾關注</a:t>
            </a:r>
          </a:p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Hype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374904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ChatGPT、Midjourney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人人都聽過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記住這 4 個，等等講倫理章節時會回來找它們算帳。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傳統程式：人寫規則，機器照做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2560320"/>
            <a:ext cx="201168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資料</a:t>
            </a:r>
          </a:p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560320"/>
            <a:ext cx="201168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29260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規則</a:t>
            </a:r>
          </a:p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560320"/>
            <a:ext cx="2743200" cy="128016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2788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傳統程式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2004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→  答案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Fira Code"/>
                <a:ea typeface="Fira Code"/>
                <a:cs typeface="Fira Code"/>
              </a:rPr>
              <a:t>範例：if 速度 &lt; 4: 動作 = 走路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這是工程師最熟的世界 — 規則寫得越清楚，行為越穩定。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機器學習：餵資料 + 答案，機器自己學規則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2560320"/>
            <a:ext cx="201168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資料</a:t>
            </a:r>
          </a:p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560320"/>
            <a:ext cx="201168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2926080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答案</a:t>
            </a:r>
          </a:p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Answers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560320"/>
            <a:ext cx="2743200" cy="128016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2788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機器學習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2004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→  規則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兩階段：訓練（Train）→ 推論（Inference）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1. 訓練：給大量「資料 + 標籤」→ 模型學出規則</a:t>
            </a:r>
          </a:p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2. 推論：把學好的模型放到手機 / MCU，吃新資料吐預測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機器學習的 3 大類型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365760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監督式 Supervised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65760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有「題目+答案」一起餵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常見：分類、迴歸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在工廠的例子：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32918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判定 PPE 有沒有戴好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預測產線良率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657600" cy="6400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非監督式 Unsupervised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468880"/>
            <a:ext cx="365760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只有題目沒答案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常見：分群、降維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749039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BBC05"/>
                </a:solidFill>
                <a:latin typeface="Google Sans"/>
                <a:ea typeface="Noto Sans TC"/>
                <a:cs typeface="Noto Sans TC"/>
              </a:rPr>
              <a:t>在工廠的例子：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60520"/>
            <a:ext cx="32918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把客戶自動分群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找出異常設備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657600" cy="6400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強化學習 Reinforcement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468880"/>
            <a:ext cx="3657600" cy="32004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讓 agent 自己試錯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靠獎勵慢慢學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49039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在工廠的例子：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160520"/>
            <a:ext cx="32918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AlphaGo</a:t>
            </a:r>
          </a:p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機械手臂自主夾取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新尖兵這 40 小時主要會用：監督式（分類）。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2 — Why TinyML?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為什麼要塞進鈕扣電池？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從雲端到邊緣的縮小革命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你以為的 AI 在哪？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很多人腦中的 AI 長這樣：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50292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雲端機房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50292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幾千張 GPU</a:t>
            </a:r>
          </a:p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上百萬度電</a:t>
            </a:r>
          </a:p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AWS / GCP / Azure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377440"/>
            <a:ext cx="50292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45352" y="256032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你的裝置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3291840"/>
            <a:ext cx="50292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手機 / 筆電</a:t>
            </a:r>
          </a:p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上網問 → 等回應</a:t>
            </a:r>
          </a:p>
          <a:p>
            <a:pPr algn="ctr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所有資料都送雲端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問題來了 — 這樣真的夠用嗎？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把 AI 留在雲端，要付出什麼代價？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347472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延遲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737360"/>
            <a:ext cx="3474720" cy="6400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頻寬 Bandwidth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737360"/>
            <a:ext cx="3474720" cy="6400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耗電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02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雲端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高耗電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02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邊緣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124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先看「雲端」的成績單...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把 AI 留在雲端，要付出什麼代價？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347472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延遲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737360"/>
            <a:ext cx="3474720" cy="6400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頻寬 Bandwidth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737360"/>
            <a:ext cx="3474720" cy="6400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耗電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02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雲端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124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高耗電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02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邊緣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124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低耗電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邊緣裝置不用一直連雲，耗電大幅下降。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把 AI 留在雲端，要付出什麼代價？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347472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延遲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737360"/>
            <a:ext cx="3474720" cy="6400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頻寬 Bandwidth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737360"/>
            <a:ext cx="3474720" cy="6400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耗電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02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雲端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吃網路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高耗電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02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邊緣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749039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不用網路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低耗電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影像 / 音訊全送雲，4G/5G 流量會爆。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把 AI 留在雲端，要付出什麼代價？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737360"/>
            <a:ext cx="3474720" cy="6400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延遲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737360"/>
            <a:ext cx="3474720" cy="6400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頻寬 Bandwidth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737360"/>
            <a:ext cx="3474720" cy="6400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8013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耗電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02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雲端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100~500ms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吃網路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560320"/>
            <a:ext cx="347472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高耗電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02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邊緣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&lt;10ms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不用網路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3749039"/>
            <a:ext cx="3474720" cy="82296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低耗電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三項都贏：這就是為什麼要把 AI 推到邊緣。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資料海嘯，但 99% 直接丟掉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全球每天 IoT 產出的資料量：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5</a:t>
            </a:r>
          </a:p>
          <a:p>
            <a:pPr algn="l"/>
            <a:r>
              <a:rPr sz="72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Quintillion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= 5 × 10¹⁸ bytes / 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大約等於 100 億支 16GB 手機塞滿。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但實際被分析、被用到的：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&lt; 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46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99% 直接從 sensor 丟掉，沒留下任何洞察。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 的機會：把分析推到資料的「發生點」，邊產生邊處理。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那 TinyML 到底是什麼？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2377440"/>
            <a:ext cx="3200400" cy="2286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31089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嵌入式系統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749039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Embedded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10896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＋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377440"/>
            <a:ext cx="3200400" cy="2286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31089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機器學習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749039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TinyML ＝ 在 MCU 上跑的 ML（電量 &lt; 1 mW、記憶體 &lt; 1 MB）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白話：模型小到塞得進 Arduino，一顆鈕扣電池可以跑一整年。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舉個例子：智慧音箱怎麼運作？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「Hi Siri / OK Google / Hey LINE」之後發生了什麼？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560320"/>
            <a:ext cx="274320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37360" y="26060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輸入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3657600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麥克風（Sensor）</a:t>
            </a:r>
          </a:p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收音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56032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560320"/>
            <a:ext cx="274320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26060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處理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383280"/>
            <a:ext cx="3657600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56616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辨識指令、</a:t>
            </a:r>
          </a:p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決定動作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560320"/>
            <a:ext cx="822960" cy="64008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2560320"/>
            <a:ext cx="274320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2606040"/>
            <a:ext cx="2560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輸出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383280"/>
            <a:ext cx="3657600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356616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喇叭播放回應</a:t>
            </a:r>
          </a:p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或控制家電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重點：第 1 步「OK Google」這個關鍵字偵測，就是 TinyML 在做。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邊緣裝置可以接的感測器，五花八門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動作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陀螺儀 / 加速度計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MPU6050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828800"/>
            <a:ext cx="26974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874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聲音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33172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46888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麥克風 / 超音波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828800"/>
            <a:ext cx="2697480" cy="50292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39" y="1874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環境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233172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39" y="246888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溫度 / 濕度 / 氣壓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828800"/>
            <a:ext cx="269748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599" y="1874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影像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19" y="233172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72599" y="246888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攝影機 / 熱顯像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2697480" cy="5029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9776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觸控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電容 / 紅外線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931920"/>
            <a:ext cx="269748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80" y="39776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生理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443484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80" y="457200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指紋 / 心率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3931920"/>
            <a:ext cx="2697480" cy="50292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39" y="39776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旋轉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443484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39" y="457200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編碼器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19" y="3931920"/>
            <a:ext cx="269748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72599" y="39776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力學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89719" y="4434840"/>
            <a:ext cx="269748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72599" y="4572000"/>
            <a:ext cx="2468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壓力 / 應變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這 40 小時我們專攻 MPU6050（加速度＋陀螺儀）。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處理器有多大？我們一個個來看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桌機 / 機房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" y="2697480"/>
            <a:ext cx="3200400" cy="3200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561 mm²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NVIDIA Tesla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手機 SoC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474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穿戴裝置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3474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19" y="3474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處理器有多大？我們一個個來看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桌機 / 機房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" y="2697480"/>
            <a:ext cx="3200400" cy="3200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561 mm²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NVIDIA Tesla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手機 SoC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3340" y="3383280"/>
            <a:ext cx="1828800" cy="18288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83 mm²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5778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iPhone A 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穿戴裝置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3474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19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19" y="3474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處理器有多大？我們一個個來看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桌機 / 機房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" y="2697480"/>
            <a:ext cx="3200400" cy="3200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561 mm²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NVIDIA Tesla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手機 SoC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3340" y="3383280"/>
            <a:ext cx="1828800" cy="18288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83 mm²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5778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iPhone A 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穿戴裝置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9459" y="3749040"/>
            <a:ext cx="1097280" cy="10972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59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BBC05"/>
                </a:solidFill>
                <a:latin typeface="Google Sans"/>
                <a:ea typeface="Noto Sans TC"/>
                <a:cs typeface="Noto Sans TC"/>
              </a:rPr>
              <a:t>30 mm²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55778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Apple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3474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rgbClr val="BDC1C6"/>
                </a:solidFill>
                <a:latin typeface="Google Sans"/>
                <a:ea typeface="Noto Sans TC"/>
                <a:cs typeface="Noto Sans TC"/>
              </a:rPr>
              <a:t>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處理器有多大？我們一個個來看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桌機 / 機房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" y="2697480"/>
            <a:ext cx="3200400" cy="3200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561 mm²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NVIDIA Tesla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手機 SoC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3340" y="3383280"/>
            <a:ext cx="1828800" cy="18288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83 mm²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5778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iPhone A 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穿戴裝置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9459" y="3749040"/>
            <a:ext cx="1097280" cy="10972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59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BBC05"/>
                </a:solidFill>
                <a:latin typeface="Google Sans"/>
                <a:ea typeface="Noto Sans TC"/>
                <a:cs typeface="Noto Sans TC"/>
              </a:rPr>
              <a:t>30 mm²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55778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Apple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173736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09859" y="4069080"/>
            <a:ext cx="45720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19" y="512064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3.2 mm²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55778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Kinetis KL03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耗電差距有多誇張？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NVIDIA Tesla K80（雲端 GPU）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14600"/>
            <a:ext cx="8229600" cy="41148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15400" y="25146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300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Apple A12（手機 SoC）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03320"/>
            <a:ext cx="559994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5748" y="370332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3.64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Syntiant NDP100（TinyML 晶片）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92040"/>
            <a:ext cx="457200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89204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140 μW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300 W ÷ 140 μW ≈ 2,140,000 倍。 一顆鈕扣電池 vs 一整間機房。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這就是「能跑一整年都不用換電池」的物理基礎。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全世界到底有多少顆 MCU？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全球 MCU 累計出貨量：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9728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2,500 億顆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= 地球上每個人平均擁有 31 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如果其中 10% 可以跑 AI，就是 250 億個邊緣 AI 節點。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 為什麼成立？三個關鍵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697480" cy="3200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體積小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毫米等級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011680"/>
            <a:ext cx="2697480" cy="3200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22860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耗電低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29184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微瓦等級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Low Power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2011680"/>
            <a:ext cx="2697480" cy="32004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39" y="22860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成本低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329184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幾塊台幣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Low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19" y="2011680"/>
            <a:ext cx="2697480" cy="3200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599" y="22860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需求大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599" y="329184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千億級規模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High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把這四件事乘在一起 = AI 第一次有條件「無所不在」。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3 —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 已經在做什麼？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從漁港、工廠到產線，台灣的應用場景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案例 1：設備預測性維護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問題：產線馬達 / CNC 主軸壞掉，停機一小時 = 幾十萬損失。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530352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傳統做法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49377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定期保養（壞了才修）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派人巡檢、聽聲音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拉線回中控才有資料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異常時已經來不及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560320"/>
            <a:ext cx="5303520" cy="3200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27432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TinyML 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3291840"/>
            <a:ext cx="49377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• 加速度計貼在馬達上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• MCU 即時分析震動頻譜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• 異常前 7 天就告警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• 不用拉線、用電池供電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本課程後段你會用 MPU6050 + Arduino 實作這個案例。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案例 2：工地 PPE 自動偵測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問題：工地 / 工廠進場必戴安全帽、護目鏡，但人員會偷懶。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情境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697479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出入口架一台攝影機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91839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辨識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337559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用 TinyML 影像模型即時判斷有沒有戴 PPE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動作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977639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未戴齊 → 紅燈 + 廣播提醒（不開門）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好處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6177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影像不上雲，不會有員工肖像權爭議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金屬中心、漢翔等製造業現場都有實際導入需求。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案例 3：產線缺陷檢測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問題：人工目檢累、不一致、漏檢率高。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560320"/>
            <a:ext cx="30175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拍照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3749039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產線上方相機拍每一件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560320"/>
            <a:ext cx="30175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26060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推論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383280"/>
            <a:ext cx="3749039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356616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MCU 跑分類模型 → OK / 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603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560320"/>
            <a:ext cx="30175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260604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分流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383280"/>
            <a:ext cx="3749039" cy="1828800"/>
          </a:xfrm>
          <a:prstGeom prst="rect">
            <a:avLst/>
          </a:prstGeom>
          <a:noFill/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356616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NG 件自動掃到回收區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M3 / M4 我們會教你怎麼把這個模型壓到 MCU 跑。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案例 4：智慧農漁牧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486400" cy="5029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茶園 ｜ 蟲害辨識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邊緣 AI 判斷葉片病灶，山區不用網路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5029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養殖 ｜ 魚群健康監測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31720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麥克風聽魚群活動異常聲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5486400" cy="50292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鳳梨 ｜ 成熟度分級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80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拍照 + TinyML 判斷甜度等級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023360"/>
            <a:ext cx="5486400" cy="5029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豬舍 ｜ 咳嗽聲偵測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526280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70916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提前 3 天預警呼吸道疾病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TinyML 的特色：可以放到雲端到不了的地方。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4 —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做 AI 之前先問三個問題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工程師的良心 = 公司的長期競爭力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先承認一件事：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AI 不是萬靈丹。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有些問題用 if-else 寫 5 行程式就解決，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你硬要套個 1GB 的 LLM，那叫做「拿大砲打蚊子」。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傳統程式 vs 機器學習 — 你該選哪個？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傳統程式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486400" cy="3566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優點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快速開發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容易解釋、容易 debug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維護便宜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行為穩定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缺點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規則太多會爆炸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環境一變就壞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處理不了非結構化資料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00" cy="5486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機器學習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86000"/>
            <a:ext cx="5486400" cy="35661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優點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51206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解複雜問題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可擴展、可個人化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資料越多越準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適合非結構化（影像 / 聲音）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缺點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開發慢、需要資料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黑盒子、難解釋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Debug 痛苦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選哪個？看「規則寫不寫得完」。寫得完 → 傳統；寫不完 → ML。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做 AI 之前，先問自己三件事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822960" cy="10972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82880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37360" y="19202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我在做什麼？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6888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What am I building?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822960" cy="10972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315468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32461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我做給誰用？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7947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Who am I building this for?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822960" cy="10972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448056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45720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失敗了會傷到誰？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12064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What are the consequences?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Google PAIR / Human-Centered Design 框架。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Q1：我在做什麼？以「PPE 偵測」為例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74320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問題是什麼？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920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工地人員未戴安全帽 → 工安事故率高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74320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為什麼要解決？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8346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勞保理賠 + 公司商譽 + 法規罰款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274320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人工怎麼做？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749039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派警衛站門口看，但 24h 撐不住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274320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AI 能加值什麼？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663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全時段、不疲勞、可記錄統計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四題都答得出來 → 才值得開模型。答不出來 → 先別做。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Q2：我做給誰用？分清楚直接 / 間接 stakeholder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直接使用者（Direct）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00" cy="347472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工地工務 / 廠長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1206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在意：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偵測準確率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操作介面是否簡單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警報是否會被忽略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系統穩定度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486400" cy="54864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間接相關者（Indirect）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5486400" cy="347472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現場作業員 / 訪客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51206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在意：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我的臉是否被記錄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資料會不會給保險公司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誤判會不會被扣薪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• 隱私 / 自主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兩邊的「在意」會打架 — 這就是 value tension，必須提早攤開講。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Q3：失敗會怎樣？認識兩種錯誤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Type 1 — False Positive（誤判為陽性）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白話：「沒火災卻響警報」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PPE 例子：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戴了安全帽卻被判沒戴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→ 員工被冤枉、抱怨系統不準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減少這種 → 「高 Precision」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4864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Type 2 — False Negative（誤判為陰性）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377440"/>
            <a:ext cx="5486400" cy="3200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白話：「真的失火了卻沒響」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120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PPE 例子：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沒戴安全帽卻沒抓到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→ 出事故、人受傷、公司被罰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3776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減少這種 → 「高 Recall」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PPE 偵測該優化哪個？答案：Recall（漏掉一次就是人命）。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Precision 和 Recall 不能兼得 — 要選邊站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把分類門檻往兩邊推，會發生什麼事？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4114800"/>
            <a:ext cx="9601200" cy="0"/>
          </a:xfrm>
          <a:prstGeom prst="line">
            <a:avLst/>
          </a:prstGeom>
          <a:ln w="2540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402336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40233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743200"/>
            <a:ext cx="91440" cy="1828800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23774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Google Sans"/>
                <a:ea typeface="Noto Sans TC"/>
                <a:cs typeface="Noto Sans TC"/>
              </a:rPr>
              <a:t>分類門檻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4572000" cy="13716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→ 高 Recall（寧錯殺）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2044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誤報多、漏報少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743200"/>
            <a:ext cx="5029200" cy="13716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88036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→ 高 Precision（寧放過）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204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誤報少、漏報多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怎麼選？看「哪種錯比較痛」。煙霧偵測 → Recall。垃圾信過濾 → Precision。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你的 PPE 偵測呢？訓練前就要跟老闆談好。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判斷該優化 Precision 還是 Recall — 4 個問題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822960" cy="82296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828800"/>
            <a:ext cx="1005840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誰是直接 / 間接 stakeholder？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822960" cy="82296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29718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Type 1 錯誤（誤報）會傷到誰？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822960" cy="82296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3749039"/>
            <a:ext cx="1005840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Type 2 錯誤（漏報）會傷到誰？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09159"/>
            <a:ext cx="822960" cy="82296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4709159"/>
            <a:ext cx="10058400" cy="8229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48920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哪一種錯比較痛？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第 4 題答完，Precision / Recall 就有方向了。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「成功」之後常會翻車 — 一個小故事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某工廠用 AI 做門禁打卡，準確率 98%，老闆很開心。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上線一週後 ──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反映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803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戴口罩的人辨識不出來，每天卡關 30 分鐘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反映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520439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東南亞籍移工辨識率特別低（訓練資料偏白人）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反映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160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晚班環境光不夠，整批人被誤判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解藥：上線前必須測「對誰、什麼情境會失敗」。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這就是 Responsible AI 的核心 — 不是不做，是想清楚再做。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4 大推手的另一面 = 4 大風險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推手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7830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黑暗面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7830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對應議題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資料量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7744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侵犯隱私、資料外洩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7744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GDPR、個資法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演算法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2004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演算法歧視、不透明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2004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Black Box 問題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算力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023359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高耗能、高碳排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023359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綠色 AI 議題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公眾關注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84632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炒作 vs 現實落差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84632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AI 泡沫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歐盟「可信 AI」7 大原則 — 國際標準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8288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人類能介入監督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8288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60" y="19202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技術可靠、可被攻擊測試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79" y="18288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19" y="19202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隱私與資料治理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21239" y="18288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12679" y="19202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決策可解釋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36576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37490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多元、公平、不歧視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6576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6576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60" y="37490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對社會與環境負責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6576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79" y="3657600"/>
            <a:ext cx="2103120" cy="64008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19" y="37490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可追溯、可究責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台灣科技部 / 國科會也採用這份原則作為國家 AI 框架基礎。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5 —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我們會用什麼工具？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Python + Colab + TensorFlow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為什麼選 Google Colab？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免安裝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548640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瀏覽器打開就能寫 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5486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87452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免費 GPU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548640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雲端跑 NN 訓練，不用買顯卡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5486400" cy="54864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可分享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80560"/>
            <a:ext cx="548640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一個連結，全班同步看程式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486400" cy="5486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977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Jupyter 介面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480560"/>
            <a:ext cx="5486400" cy="13716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業界資料分析標準環境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後段 TinyML 我們會切回 Arduino IDE + PlatformIO。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Colab 使用 5 個小撇步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640080" cy="5486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828800"/>
            <a:ext cx="10332720" cy="5486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閒置 90 分鐘會中斷，最長 12 小時必須重啟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06040"/>
            <a:ext cx="640080" cy="5486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606040"/>
            <a:ext cx="10332720" cy="5486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Cell 開頭加 ! 可以直接跑 bash 指令（如 !pip install）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640080" cy="5486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3383280"/>
            <a:ext cx="10332720" cy="5486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3474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上方選單：執行階段 → 變更執行階段類型 → 選 GPU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640080" cy="5486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4160520"/>
            <a:ext cx="10332720" cy="5486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425195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檔案存在 /content 是暫時的，重啟就消失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59"/>
            <a:ext cx="640080" cy="5486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4937759"/>
            <a:ext cx="10332720" cy="5486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502919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想長久保存：File → Save a copy in Drive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先看一段程式碼，再聊概念（Code First）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import tensorflow as tf</a:t>
            </a:r>
          </a:p>
          <a:p>
            <a:pPr algn="l"/>
            <a:endParaRPr sz="1400" b="0" i="0">
              <a:solidFill>
                <a:srgbClr val="FFFFFF"/>
              </a:solidFill>
              <a:latin typeface="Fira Code"/>
              <a:ea typeface="Fira Code"/>
              <a:cs typeface="Fira Code"/>
            </a:endParaRP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class MyModel(tf.keras.Model):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def __init__(self):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super().__init__()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self.conv    = tf.keras.layers.Conv2D(32, 3, activation='relu')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self.flatten = tf.keras.layers.Flatten()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self.dense1  = tf.keras.layers.Dense(128, activation='relu')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self.dense2  = tf.keras.layers.Dense(10)</a:t>
            </a:r>
          </a:p>
          <a:p>
            <a:pPr algn="l"/>
            <a:endParaRPr sz="1400" b="0" i="0">
              <a:solidFill>
                <a:srgbClr val="FFFFFF"/>
              </a:solidFill>
              <a:latin typeface="Fira Code"/>
              <a:ea typeface="Fira Code"/>
              <a:cs typeface="Fira Code"/>
            </a:endParaRP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def call(self, x):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x = self.conv(x)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x = self.flatten(x)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x = self.dense1(x)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       return self.dense2(x)</a:t>
            </a:r>
          </a:p>
          <a:p>
            <a:pPr algn="l"/>
            <a:endParaRPr sz="1400" b="0" i="0">
              <a:solidFill>
                <a:srgbClr val="FFFFFF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看得懂這段 = 你已經有資格修這門課；看不懂也別怕，我們一行行拆。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Python 自我檢查 — 這些你會嗎？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基礎語法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920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for / if / def / list / dict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函式參數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7432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*args, **kwargs, 預設值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566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class、__init__、self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模組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389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import / from ... import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2560320" cy="64008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套件管理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2120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Fira Code"/>
                <a:ea typeface="Fira Code"/>
                <a:cs typeface="Fira Code"/>
              </a:rPr>
              <a:t>pip 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卡住的同學：python.org 或 LearnPython.org，三天可以補起來。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Section 6 — 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今天我們學到什麼？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下一堂課之前，請完成這些事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Module 1 — 一張投影片看完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36576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What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AI ⊃ ML ⊃ DL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ML = 餵資料抓規則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737360"/>
            <a:ext cx="3657600" cy="5486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雲端有延遲 / 頻寬 / 耗電 3 大痛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TinyML 把 AI 推到 sensor 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737360"/>
            <a:ext cx="3657600" cy="54864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How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MCU 越來越小、便宜、省電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2500 億顆 MCU 等你用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0479"/>
            <a:ext cx="3657600" cy="5486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886199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Ethics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89119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71999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做 AI 先問 3 件事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選 Precision 還 Recall = 工程決定也是道德決定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840479"/>
            <a:ext cx="3657600" cy="5486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886199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389119"/>
            <a:ext cx="3657600" cy="141732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4571999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Python + Colab + TensorFlow</a:t>
            </a:r>
          </a:p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之後加 Arduino + MPU6050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下一個 Module：用 TensorFlow 動手做你的第一個神經網路。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Your turn — 你的 3 個課後作業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502920"/>
            <a:ext cx="109728" cy="4114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822960" cy="1280160"/>
          </a:xfrm>
          <a:prstGeom prst="roundRect">
            <a:avLst>
              <a:gd name="adj" fmla="val 4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828800"/>
            <a:ext cx="1005840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37360" y="19659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申請 Google Colab 帳號，跑通範例「Hello, TensorFlow」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432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>
                <a:solidFill>
                  <a:srgbClr val="4285F4"/>
                </a:solidFill>
                <a:latin typeface="Google Sans"/>
                <a:ea typeface="Noto Sans TC"/>
                <a:cs typeface="Noto Sans TC"/>
              </a:rPr>
              <a:t>預計時間：10 分鐘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822960" cy="128016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3246120"/>
            <a:ext cx="1005840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3383279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用「我在做什麼 / 做給誰 / 失敗會怎樣」三問，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為自己想做的 TinyML 專案寫一頁需求書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1605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>
                <a:solidFill>
                  <a:srgbClr val="EA4335"/>
                </a:solidFill>
                <a:latin typeface="Google Sans"/>
                <a:ea typeface="Noto Sans TC"/>
                <a:cs typeface="Noto Sans TC"/>
              </a:rPr>
              <a:t>預計時間：30 分鐘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822960" cy="128016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000" tIns="20000" rIns="50000" bIns="200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  <a:cs typeface="Noto Sans TC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4663440"/>
            <a:ext cx="10058400" cy="128016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480060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找一個身邊的 ML 應用（LINE Bot / Siri / 抖音推薦）</a:t>
            </a:r>
          </a:p>
          <a:p>
            <a:pPr algn="l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判斷它該優化 Precision 還是 Recall，並說明理由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5778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>
                <a:solidFill>
                  <a:srgbClr val="34A853"/>
                </a:solidFill>
                <a:latin typeface="Google Sans"/>
                <a:ea typeface="Noto Sans TC"/>
                <a:cs typeface="Noto Sans TC"/>
              </a:rPr>
              <a:t>預計時間：15 分鐘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謝謝大家</a:t>
            </a:r>
          </a:p>
          <a:p>
            <a:pPr algn="l"/>
            <a:r>
              <a:rPr sz="64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有什麼問題？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Module 1 — Introduction to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  <a:cs typeface="Noto Sans TC"/>
              </a:rPr>
              <a:t>講師：Harry / 蘇泓舉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  <a:cs typeface="Noto Sans TC"/>
              </a:rPr>
              <a:t>下一堂：Module 2 — 動手做你的第一個神經網路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2028</Words>
  <Application>Microsoft Office PowerPoint</Application>
  <PresentationFormat>寬螢幕</PresentationFormat>
  <Paragraphs>590</Paragraphs>
  <Slides>54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54</vt:i4>
      </vt:variant>
    </vt:vector>
  </HeadingPairs>
  <TitlesOfParts>
    <vt:vector size="59" baseType="lpstr">
      <vt:lpstr>Fira Code</vt:lpstr>
      <vt:lpstr>Google Sans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泓舉</cp:lastModifiedBy>
  <cp:revision>2</cp:revision>
  <dcterms:created xsi:type="dcterms:W3CDTF">2013-01-27T09:14:16Z</dcterms:created>
  <dcterms:modified xsi:type="dcterms:W3CDTF">2026-06-26T13:36:39Z</dcterms:modified>
  <cp:category/>
</cp:coreProperties>
</file>